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2e58fa21484a54" /><Relationship Type="http://schemas.openxmlformats.org/officeDocument/2006/relationships/extended-properties" Target="/docProps/app.xml" Id="R7c2a916bf53c4d6e" /><Relationship Type="http://schemas.openxmlformats.org/officeDocument/2006/relationships/officeDocument" Target="/ppt/presentation.xml" Id="R25ef204555ee40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be3483509419a"/>
  </p:sldMasterIdLst>
  <p:notesMasterIdLst>
    <p:notesMasterId xmlns:r="http://schemas.openxmlformats.org/officeDocument/2006/relationships" r:id="R57e7e8d029d1463b"/>
  </p:notesMasterIdLst>
  <p:sldIdLst>
    <p:sldId xmlns:r="http://schemas.openxmlformats.org/officeDocument/2006/relationships" id="256" r:id="Rea640ed2f8ba4285"/>
    <p:sldId xmlns:r="http://schemas.openxmlformats.org/officeDocument/2006/relationships" id="257" r:id="Rc6967a9f2b4f4780"/>
    <p:sldId xmlns:r="http://schemas.openxmlformats.org/officeDocument/2006/relationships" id="258" r:id="Re2aedc9f98f94ffe"/>
    <p:sldId xmlns:r="http://schemas.openxmlformats.org/officeDocument/2006/relationships" id="259" r:id="R645f777063c0478a"/>
    <p:sldId xmlns:r="http://schemas.openxmlformats.org/officeDocument/2006/relationships" id="260" r:id="R3bd189be5cee46d7"/>
    <p:sldId xmlns:r="http://schemas.openxmlformats.org/officeDocument/2006/relationships" id="261" r:id="R25cabb636fe94ec3"/>
    <p:sldId xmlns:r="http://schemas.openxmlformats.org/officeDocument/2006/relationships" id="262" r:id="R0747ebb192e641b9"/>
    <p:sldId xmlns:r="http://schemas.openxmlformats.org/officeDocument/2006/relationships" id="263" r:id="Rf327b62e4a024dcd"/>
    <p:sldId xmlns:r="http://schemas.openxmlformats.org/officeDocument/2006/relationships" id="264" r:id="R1a50087e026e4f2b"/>
    <p:sldId xmlns:r="http://schemas.openxmlformats.org/officeDocument/2006/relationships" id="265" r:id="R111af2a6dfdb40c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be3483509419a" /><Relationship Type="http://schemas.openxmlformats.org/officeDocument/2006/relationships/theme" Target="/ppt/theme/theme1.xml" Id="R7d8775b82c5546ef" /><Relationship Type="http://schemas.openxmlformats.org/officeDocument/2006/relationships/notesMaster" Target="/ppt/notesMasters/notesMaster1.xml" Id="R57e7e8d029d1463b" /><Relationship Type="http://schemas.openxmlformats.org/officeDocument/2006/relationships/presProps" Target="/ppt/presProps.xml" Id="R50293418e1eb4c9c" /><Relationship Type="http://schemas.openxmlformats.org/officeDocument/2006/relationships/viewProps" Target="/ppt/viewProps.xml" Id="Rc538937a28f34f87" /><Relationship Type="http://schemas.openxmlformats.org/officeDocument/2006/relationships/tableStyles" Target="/ppt/tableStyles.xml" Id="R06a76588da87404c" /><Relationship Type="http://schemas.openxmlformats.org/officeDocument/2006/relationships/slide" Target="/ppt/slides/slide1.xml" Id="Rea640ed2f8ba4285" /><Relationship Type="http://schemas.openxmlformats.org/officeDocument/2006/relationships/slide" Target="/ppt/slides/slide2.xml" Id="Rc6967a9f2b4f4780" /><Relationship Type="http://schemas.openxmlformats.org/officeDocument/2006/relationships/slide" Target="/ppt/slides/slide3.xml" Id="Re2aedc9f98f94ffe" /><Relationship Type="http://schemas.openxmlformats.org/officeDocument/2006/relationships/slide" Target="/ppt/slides/slide4.xml" Id="R645f777063c0478a" /><Relationship Type="http://schemas.openxmlformats.org/officeDocument/2006/relationships/slide" Target="/ppt/slides/slide5.xml" Id="R3bd189be5cee46d7" /><Relationship Type="http://schemas.openxmlformats.org/officeDocument/2006/relationships/slide" Target="/ppt/slides/slide6.xml" Id="R25cabb636fe94ec3" /><Relationship Type="http://schemas.openxmlformats.org/officeDocument/2006/relationships/slide" Target="/ppt/slides/slide7.xml" Id="R0747ebb192e641b9" /><Relationship Type="http://schemas.openxmlformats.org/officeDocument/2006/relationships/slide" Target="/ppt/slides/slide8.xml" Id="Rf327b62e4a024dcd" /><Relationship Type="http://schemas.openxmlformats.org/officeDocument/2006/relationships/slide" Target="/ppt/slides/slide9.xml" Id="R1a50087e026e4f2b" /><Relationship Type="http://schemas.openxmlformats.org/officeDocument/2006/relationships/slide" Target="/ppt/slides/slide10.xml" Id="R111af2a6dfdb40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e467eee314041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ce23c8c26744ea" /><Relationship Type="http://schemas.openxmlformats.org/officeDocument/2006/relationships/notesMaster" Target="/ppt/notesMasters/notesMaster1.xml" Id="Rea3f3c70cc114b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f3ada238fc42fe" /><Relationship Type="http://schemas.openxmlformats.org/officeDocument/2006/relationships/notesMaster" Target="/ppt/notesMasters/notesMaster1.xml" Id="Rc3d5b9ecc14346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7d7d9aa9564048" /><Relationship Type="http://schemas.openxmlformats.org/officeDocument/2006/relationships/notesMaster" Target="/ppt/notesMasters/notesMaster1.xml" Id="R1e039e069fb445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31dd424bd3416b" /><Relationship Type="http://schemas.openxmlformats.org/officeDocument/2006/relationships/notesMaster" Target="/ppt/notesMasters/notesMaster1.xml" Id="R97bca9d37c514a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ff1e6415b14dac" /><Relationship Type="http://schemas.openxmlformats.org/officeDocument/2006/relationships/notesMaster" Target="/ppt/notesMasters/notesMaster1.xml" Id="R78c2370d4d144e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afbc29f79c49e2" /><Relationship Type="http://schemas.openxmlformats.org/officeDocument/2006/relationships/notesMaster" Target="/ppt/notesMasters/notesMaster1.xml" Id="R3cf3730f142547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614fcc1d7b488a" /><Relationship Type="http://schemas.openxmlformats.org/officeDocument/2006/relationships/notesMaster" Target="/ppt/notesMasters/notesMaster1.xml" Id="R0312557fd27c40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f5cb6400f94a5f" /><Relationship Type="http://schemas.openxmlformats.org/officeDocument/2006/relationships/notesMaster" Target="/ppt/notesMasters/notesMaster1.xml" Id="R8eb5a8716ee44f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f7c3f5664a45cf" /><Relationship Type="http://schemas.openxmlformats.org/officeDocument/2006/relationships/notesMaster" Target="/ppt/notesMasters/notesMaster1.xml" Id="R2f95555c632c4d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b31f4ee26344bf" /><Relationship Type="http://schemas.openxmlformats.org/officeDocument/2006/relationships/notesMaster" Target="/ppt/notesMasters/notesMaster1.xml" Id="Rd3a9b82e540449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ae207ea3a3474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33e7f44570e4887" /><Relationship Type="http://schemas.openxmlformats.org/officeDocument/2006/relationships/slideLayout" Target="/ppt/slideLayouts/slideLayout2.xml" Id="Rdb3900931e2e4f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3900931e2e4f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7f41449b0242ff" /><Relationship Type="http://schemas.openxmlformats.org/officeDocument/2006/relationships/notesSlide" Target="/ppt/notesSlides/notesSlide1.xml" Id="R3b8860895b204f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78b74c121941b0" /><Relationship Type="http://schemas.openxmlformats.org/officeDocument/2006/relationships/notesSlide" Target="/ppt/notesSlides/notesSlide2.xml" Id="R214a0c3b34514f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cce0d3881e49f4" /><Relationship Type="http://schemas.openxmlformats.org/officeDocument/2006/relationships/notesSlide" Target="/ppt/notesSlides/notesSlide3.xml" Id="R331156a51c5748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91b4d3442a4195" /><Relationship Type="http://schemas.openxmlformats.org/officeDocument/2006/relationships/notesSlide" Target="/ppt/notesSlides/notesSlide4.xml" Id="Rc11b3446fb7647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09dd752fda4e70" /><Relationship Type="http://schemas.openxmlformats.org/officeDocument/2006/relationships/notesSlide" Target="/ppt/notesSlides/notesSlide5.xml" Id="R9005cc57afa647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bee178c0864fad" /><Relationship Type="http://schemas.openxmlformats.org/officeDocument/2006/relationships/notesSlide" Target="/ppt/notesSlides/notesSlide6.xml" Id="R65c265a5c0364e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1bff6c47534278" /><Relationship Type="http://schemas.openxmlformats.org/officeDocument/2006/relationships/notesSlide" Target="/ppt/notesSlides/notesSlide7.xml" Id="R227c2613b5004c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e954cd09cd4629" /><Relationship Type="http://schemas.openxmlformats.org/officeDocument/2006/relationships/image" Target="/ppt/media/image.png" Id="Rfdd6882e2dda4cb3" /><Relationship Type="http://schemas.openxmlformats.org/officeDocument/2006/relationships/notesSlide" Target="/ppt/notesSlides/notesSlide8.xml" Id="R13e413f51fdc46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8c986807944318" /><Relationship Type="http://schemas.openxmlformats.org/officeDocument/2006/relationships/notesSlide" Target="/ppt/notesSlides/notesSlide9.xml" Id="R61036923b10948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b8770ee3694f96" /><Relationship Type="http://schemas.openxmlformats.org/officeDocument/2006/relationships/notesSlide" Target="/ppt/notesSlides/notesSlide10.xml" Id="Rcd947852eacc4e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7B379A8-1D8C-4AEE-A70B-A067181E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</p:spPr>
      </p:sp>
      <p:sp>
        <p:nvSpPr>
          <p:cNvPr id="2" name="cover-rule">
            <a:extLst xmlns:a="http://schemas.openxmlformats.org/drawingml/2006/main">
              <a:ext uri="{FF2B5EF4-FFF2-40B4-BE49-F238E27FC236}">
                <a16:creationId xmlns:a16="http://schemas.microsoft.com/office/drawing/2014/main" id="{8E14AA2E-24CB-46E2-BDE0-26BDE704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solidFill>
              <a:srgbClr val="D19A3A"/>
            </a:solidFill>
            <a:prstDash val="solid"/>
          </a:ln>
        </p:spPr>
      </p:sp>
      <p:sp>
        <p:nvSpPr>
          <p:cNvPr id="3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E8DF4D08-BF48-4716-8232-A67D4F09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6743700" cy="27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FFFFFF"/>
                </a:solidFill>
              </a:defRPr>
            </a:pPr>
            <a:r>
              <a:rPr sz="8850" b="1">
                <a:solidFill>
                  <a:srgbClr val="FFFFFF"/>
                </a:solidFill>
              </a:rPr>
              <a:t>Cuckoo Search</a:t>
            </a:r>
          </a:p>
        </p:txBody>
      </p:sp>
      <p:sp>
        <p:nvSpPr>
          <p:cNvPr id="4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3DF0FB11-FC7F-4DBD-BAB9-1482D778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4286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0D9A7"/>
                </a:solidFill>
              </a:defRPr>
            </a:pPr>
            <a:r>
              <a:rPr sz="5400" b="1">
                <a:solidFill>
                  <a:srgbClr val="F0D9A7"/>
                </a:solidFill>
              </a:rPr>
              <a:t>via Levy Flights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7F2A75A-8754-4CEC-B7FB-CEE021C5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10400"/>
            <a:ext cx="7658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6E3E0"/>
                </a:solidFill>
              </a:defRPr>
            </a:pPr>
            <a:r>
              <a:rPr sz="2250">
                <a:solidFill>
                  <a:srgbClr val="D6E3E0"/>
                </a:solidFill>
              </a:rPr>
              <a:t>Final metaheuristics presentation | continuous optimization demo</a:t>
            </a:r>
          </a:p>
        </p:txBody>
      </p:sp>
      <p:sp>
        <p:nvSpPr>
          <p:cNvPr id="6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9D96D398-BB80-4564-B020-C1C7C1E0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15250"/>
            <a:ext cx="1664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FC3BE"/>
                </a:solidFill>
              </a:defRPr>
            </a:pPr>
            <a:r>
              <a:rPr sz="1500">
                <a:solidFill>
                  <a:srgbClr val="AFC3BE"/>
                </a:solidFill>
              </a:rPr>
              <a:t>Reference: Yang &amp; Deb, NaBIC 2009</a:t>
            </a:r>
          </a:p>
        </p:txBody>
      </p:sp>
    </p:spTree>
    <p:extLst>
      <p:ext uri="{BB962C8B-B14F-4D97-AF65-F5344CB8AC3E}">
        <p14:creationId xmlns:p14="http://schemas.microsoft.com/office/powerpoint/2010/main" val="1330832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A0F036E-3D17-488A-9281-2731D77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89A0E4F-DD1F-4504-B03D-D82B6482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6A73"/>
                </a:solidFill>
              </a:defRPr>
            </a:pPr>
            <a:r>
              <a:rPr sz="1275" b="1">
                <a:solidFill>
                  <a:srgbClr val="246A73"/>
                </a:solidFill>
              </a:rPr>
              <a:t>MOTIVATION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B54B1E-EE12-4FA7-A275-28E1C703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"/>
            <a:ext cx="16649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933"/>
                </a:solidFill>
              </a:defRPr>
            </a:pPr>
            <a:r>
              <a:rPr sz="4650" b="1">
                <a:solidFill>
                  <a:srgbClr val="1F2933"/>
                </a:solidFill>
              </a:rPr>
              <a:t>A population search with rare long jumps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47E7156-2D20-4444-B279-6BFF9790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123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F6368"/>
                </a:solidFill>
              </a:defRPr>
            </a:pPr>
            <a:r>
              <a:rPr sz="2025">
                <a:solidFill>
                  <a:srgbClr val="5F6368"/>
                </a:solidFill>
              </a:rPr>
              <a:t>Related to evolutionary algorithms and PSO through population search; distinctive because exploration uses heavy-tailed Levy flights.</a:t>
            </a:r>
          </a:p>
        </p:txBody>
      </p:sp>
      <p:sp>
        <p:nvSpPr>
          <p:cNvPr id="5" name="force-title-1">
            <a:extLst xmlns:a="http://schemas.openxmlformats.org/drawingml/2006/main">
              <a:ext uri="{FF2B5EF4-FFF2-40B4-BE49-F238E27FC236}">
                <a16:creationId xmlns:a16="http://schemas.microsoft.com/office/drawing/2014/main" id="{012F9FAA-1C40-443C-9D35-59569C27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8058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46A73"/>
                </a:solidFill>
              </a:defRPr>
            </a:pPr>
            <a:r>
              <a:rPr sz="4350" b="1">
                <a:solidFill>
                  <a:srgbClr val="246A73"/>
                </a:solidFill>
              </a:rPr>
              <a:t>Intensification</a:t>
            </a:r>
          </a:p>
        </p:txBody>
      </p:sp>
      <p:sp>
        <p:nvSpPr>
          <p:cNvPr id="6" name="bullet-mark">
            <a:extLst xmlns:a="http://schemas.openxmlformats.org/drawingml/2006/main">
              <a:ext uri="{FF2B5EF4-FFF2-40B4-BE49-F238E27FC236}">
                <a16:creationId xmlns:a16="http://schemas.microsoft.com/office/drawing/2014/main" id="{FF61CEA6-C05C-49E2-8120-3E1A4EEE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73"/>
          </a:solidFill>
        </p:spPr>
      </p:sp>
      <p:sp>
        <p:nvSpPr>
          <p:cNvPr id="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4D8E6962-A084-4DB4-998C-0BAE6A51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43600"/>
            <a:ext cx="773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Best nests are preserved across iterations.</a:t>
            </a:r>
          </a:p>
        </p:txBody>
      </p:sp>
      <p:sp>
        <p:nvSpPr>
          <p:cNvPr id="8" name="bullet-mark">
            <a:extLst xmlns:a="http://schemas.openxmlformats.org/drawingml/2006/main">
              <a:ext uri="{FF2B5EF4-FFF2-40B4-BE49-F238E27FC236}">
                <a16:creationId xmlns:a16="http://schemas.microsoft.com/office/drawing/2014/main" id="{7A9D7EAE-0340-4352-A4B8-BAFE7208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53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73"/>
          </a:solidFill>
        </p:spPr>
      </p:sp>
      <p:sp>
        <p:nvSpPr>
          <p:cNvPr id="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116C4D17-5163-4A9D-85C1-B52FEB76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57950"/>
            <a:ext cx="773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Steps shrink naturally when nests approach the best solution.</a:t>
            </a:r>
          </a:p>
        </p:txBody>
      </p:sp>
      <p:sp>
        <p:nvSpPr>
          <p:cNvPr id="10" name="force-title-2">
            <a:extLst xmlns:a="http://schemas.openxmlformats.org/drawingml/2006/main">
              <a:ext uri="{FF2B5EF4-FFF2-40B4-BE49-F238E27FC236}">
                <a16:creationId xmlns:a16="http://schemas.microsoft.com/office/drawing/2014/main" id="{5F61BDCB-A8D1-4097-81FE-C779F609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86350"/>
            <a:ext cx="8058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5532F"/>
                </a:solidFill>
              </a:defRPr>
            </a:pPr>
            <a:r>
              <a:rPr sz="4350" b="1">
                <a:solidFill>
                  <a:srgbClr val="B5532F"/>
                </a:solidFill>
              </a:rPr>
              <a:t>Diversification</a:t>
            </a:r>
          </a:p>
        </p:txBody>
      </p:sp>
      <p:sp>
        <p:nvSpPr>
          <p:cNvPr id="11" name="bullet-mark">
            <a:extLst xmlns:a="http://schemas.openxmlformats.org/drawingml/2006/main">
              <a:ext uri="{FF2B5EF4-FFF2-40B4-BE49-F238E27FC236}">
                <a16:creationId xmlns:a16="http://schemas.microsoft.com/office/drawing/2014/main" id="{D94EA917-7B38-47E7-9248-B44075C1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532F"/>
          </a:solidFill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198CA39F-F75D-439B-91E8-5C896D4D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943600"/>
            <a:ext cx="773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Levy flights sometimes make very large moves.</a:t>
            </a:r>
          </a:p>
        </p:txBody>
      </p:sp>
      <p:sp>
        <p:nvSpPr>
          <p:cNvPr id="13" name="bullet-mark">
            <a:extLst xmlns:a="http://schemas.openxmlformats.org/drawingml/2006/main">
              <a:ext uri="{FF2B5EF4-FFF2-40B4-BE49-F238E27FC236}">
                <a16:creationId xmlns:a16="http://schemas.microsoft.com/office/drawing/2014/main" id="{E12A21A3-CB43-465B-846A-0EDC3067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553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532F"/>
          </a:solidFill>
        </p:spPr>
      </p:sp>
      <p:sp>
        <p:nvSpPr>
          <p:cNvPr id="14" name="bullet-text">
            <a:extLst xmlns:a="http://schemas.openxmlformats.org/drawingml/2006/main">
              <a:ext uri="{FF2B5EF4-FFF2-40B4-BE49-F238E27FC236}">
                <a16:creationId xmlns:a16="http://schemas.microsoft.com/office/drawing/2014/main" id="{168B27DB-D9C3-4F4F-9837-B6B0C26F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457950"/>
            <a:ext cx="773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Discovery probability replaces weak nests.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2FBBCA4-757F-4BD1-B52D-0847B56A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Yang &amp; Deb, Cuckoo Search via Levy Flights, NaBIC 2009</a:t>
            </a:r>
          </a:p>
        </p:txBody>
      </p:sp>
    </p:spTree>
    <p:extLst>
      <p:ext uri="{BB962C8B-B14F-4D97-AF65-F5344CB8AC3E}">
        <p14:creationId xmlns:p14="http://schemas.microsoft.com/office/powerpoint/2010/main" val="20079508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44AA2B5-9DD3-48B5-926B-1A49956A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2197CF2-5B7D-4DE3-9E88-A953E5EE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6A73"/>
                </a:solidFill>
              </a:defRPr>
            </a:pPr>
            <a:r>
              <a:rPr sz="1275" b="1">
                <a:solidFill>
                  <a:srgbClr val="246A73"/>
                </a:solidFill>
              </a:rPr>
              <a:t>DEFINITION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97FC3A-B24A-4204-BAF3-FF153CFB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"/>
            <a:ext cx="16649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933"/>
                </a:solidFill>
              </a:defRPr>
            </a:pPr>
            <a:r>
              <a:rPr sz="4650" b="1">
                <a:solidFill>
                  <a:srgbClr val="1F2933"/>
                </a:solidFill>
              </a:rPr>
              <a:t>From metaphor to optimization objects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9494B17-E1EE-4BEC-9D30-50DFC37A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1963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F6368"/>
                </a:solidFill>
              </a:defRPr>
            </a:pPr>
            <a:r>
              <a:rPr sz="2025">
                <a:solidFill>
                  <a:srgbClr val="5F6368"/>
                </a:solidFill>
              </a:rPr>
              <a:t>The biological story is only a design analogy. In code, everything becomes candidate solutions and objective values.</a:t>
            </a:r>
          </a:p>
        </p:txBody>
      </p:sp>
      <p:sp>
        <p:nvSpPr>
          <p:cNvPr id="5" name="h1">
            <a:extLst xmlns:a="http://schemas.openxmlformats.org/drawingml/2006/main">
              <a:ext uri="{FF2B5EF4-FFF2-40B4-BE49-F238E27FC236}">
                <a16:creationId xmlns:a16="http://schemas.microsoft.com/office/drawing/2014/main" id="{AAE3F422-2DED-4CFD-86EA-CD09DC41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88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A73"/>
                </a:solidFill>
              </a:defRPr>
            </a:pPr>
            <a:r>
              <a:rPr sz="1650" b="1">
                <a:solidFill>
                  <a:srgbClr val="246A73"/>
                </a:solidFill>
              </a:rPr>
              <a:t>Paper rule</a:t>
            </a:r>
          </a:p>
        </p:txBody>
      </p:sp>
      <p:sp>
        <p:nvSpPr>
          <p:cNvPr id="6" name="h2">
            <a:extLst xmlns:a="http://schemas.openxmlformats.org/drawingml/2006/main">
              <a:ext uri="{FF2B5EF4-FFF2-40B4-BE49-F238E27FC236}">
                <a16:creationId xmlns:a16="http://schemas.microsoft.com/office/drawing/2014/main" id="{0AFE2486-0D27-4EB0-ADB7-C74F37F0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582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A73"/>
                </a:solidFill>
              </a:defRPr>
            </a:pPr>
            <a:r>
              <a:rPr sz="1650" b="1">
                <a:solidFill>
                  <a:srgbClr val="246A73"/>
                </a:solidFill>
              </a:rPr>
              <a:t>Optimization meaning</a:t>
            </a:r>
          </a:p>
        </p:txBody>
      </p:sp>
      <p:sp>
        <p:nvSpPr>
          <p:cNvPr id="7" name="h3">
            <a:extLst xmlns:a="http://schemas.openxmlformats.org/drawingml/2006/main">
              <a:ext uri="{FF2B5EF4-FFF2-40B4-BE49-F238E27FC236}">
                <a16:creationId xmlns:a16="http://schemas.microsoft.com/office/drawing/2014/main" id="{712A2978-40F9-45CF-95F4-54AE3A79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381250"/>
            <a:ext cx="6248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A73"/>
                </a:solidFill>
              </a:defRPr>
            </a:pPr>
            <a:r>
              <a:rPr sz="1650" b="1">
                <a:solidFill>
                  <a:srgbClr val="246A73"/>
                </a:solidFill>
              </a:rPr>
              <a:t>What my demo implements</a:t>
            </a:r>
          </a:p>
        </p:txBody>
      </p:sp>
      <p:sp>
        <p:nvSpPr>
          <p:cNvPr id="8" name="one-egg-rule">
            <a:extLst xmlns:a="http://schemas.openxmlformats.org/drawingml/2006/main">
              <a:ext uri="{FF2B5EF4-FFF2-40B4-BE49-F238E27FC236}">
                <a16:creationId xmlns:a16="http://schemas.microsoft.com/office/drawing/2014/main" id="{75D99340-7525-45DC-8823-FDC7CDF5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9" name="paper-rule-cell">
            <a:extLst xmlns:a="http://schemas.openxmlformats.org/drawingml/2006/main">
              <a:ext uri="{FF2B5EF4-FFF2-40B4-BE49-F238E27FC236}">
                <a16:creationId xmlns:a16="http://schemas.microsoft.com/office/drawing/2014/main" id="{AD005D34-9AF4-4596-9B64-800F5EA7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3886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6A73"/>
                </a:solidFill>
              </a:defRPr>
            </a:pPr>
            <a:r>
              <a:rPr sz="2400" b="1">
                <a:solidFill>
                  <a:srgbClr val="246A73"/>
                </a:solidFill>
              </a:rPr>
              <a:t>One egg</a:t>
            </a:r>
          </a:p>
        </p:txBody>
      </p:sp>
      <p:sp>
        <p:nvSpPr>
          <p:cNvPr id="10" name="meaning-cell">
            <a:extLst xmlns:a="http://schemas.openxmlformats.org/drawingml/2006/main">
              <a:ext uri="{FF2B5EF4-FFF2-40B4-BE49-F238E27FC236}">
                <a16:creationId xmlns:a16="http://schemas.microsoft.com/office/drawing/2014/main" id="{EE8B88B8-0EE7-4F66-A885-25782F7D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5829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3"/>
                </a:solidFill>
              </a:defRPr>
            </a:pPr>
            <a:r>
              <a:rPr sz="1875">
                <a:solidFill>
                  <a:srgbClr val="1F2933"/>
                </a:solidFill>
              </a:rPr>
              <a:t>new candidate solution</a:t>
            </a:r>
          </a:p>
        </p:txBody>
      </p:sp>
      <p:sp>
        <p:nvSpPr>
          <p:cNvPr id="11" name="implementation-cell">
            <a:extLst xmlns:a="http://schemas.openxmlformats.org/drawingml/2006/main">
              <a:ext uri="{FF2B5EF4-FFF2-40B4-BE49-F238E27FC236}">
                <a16:creationId xmlns:a16="http://schemas.microsoft.com/office/drawing/2014/main" id="{633CE4EA-53B9-44B8-B860-A1F8423D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952750"/>
            <a:ext cx="6248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368"/>
                </a:solidFill>
              </a:defRPr>
            </a:pPr>
            <a:r>
              <a:rPr sz="1875">
                <a:solidFill>
                  <a:srgbClr val="5F6368"/>
                </a:solidFill>
              </a:rPr>
              <a:t>Levy-generated vector in 10D</a:t>
            </a:r>
          </a:p>
        </p:txBody>
      </p:sp>
      <p:sp>
        <p:nvSpPr>
          <p:cNvPr id="12" name="best-nests-survive-rule">
            <a:extLst xmlns:a="http://schemas.openxmlformats.org/drawingml/2006/main">
              <a:ext uri="{FF2B5EF4-FFF2-40B4-BE49-F238E27FC236}">
                <a16:creationId xmlns:a16="http://schemas.microsoft.com/office/drawing/2014/main" id="{3E38BEC4-FBC3-4524-A21D-8D1F5CF1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3" name="paper-rule-cell">
            <a:extLst xmlns:a="http://schemas.openxmlformats.org/drawingml/2006/main">
              <a:ext uri="{FF2B5EF4-FFF2-40B4-BE49-F238E27FC236}">
                <a16:creationId xmlns:a16="http://schemas.microsoft.com/office/drawing/2014/main" id="{00C7A936-ECA3-49AF-A40E-89D21C3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3886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5532F"/>
                </a:solidFill>
              </a:defRPr>
            </a:pPr>
            <a:r>
              <a:rPr sz="2400" b="1">
                <a:solidFill>
                  <a:srgbClr val="B5532F"/>
                </a:solidFill>
              </a:rPr>
              <a:t>Best nests survive</a:t>
            </a:r>
          </a:p>
        </p:txBody>
      </p:sp>
      <p:sp>
        <p:nvSpPr>
          <p:cNvPr id="14" name="meaning-cell">
            <a:extLst xmlns:a="http://schemas.openxmlformats.org/drawingml/2006/main">
              <a:ext uri="{FF2B5EF4-FFF2-40B4-BE49-F238E27FC236}">
                <a16:creationId xmlns:a16="http://schemas.microsoft.com/office/drawing/2014/main" id="{41DA4042-E8E4-49C6-BBC7-EB8CD934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71900"/>
            <a:ext cx="5829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3"/>
                </a:solidFill>
              </a:defRPr>
            </a:pPr>
            <a:r>
              <a:rPr sz="1875">
                <a:solidFill>
                  <a:srgbClr val="1F2933"/>
                </a:solidFill>
              </a:rPr>
              <a:t>elitist selection</a:t>
            </a:r>
          </a:p>
        </p:txBody>
      </p:sp>
      <p:sp>
        <p:nvSpPr>
          <p:cNvPr id="15" name="implementation-cell">
            <a:extLst xmlns:a="http://schemas.openxmlformats.org/drawingml/2006/main">
              <a:ext uri="{FF2B5EF4-FFF2-40B4-BE49-F238E27FC236}">
                <a16:creationId xmlns:a16="http://schemas.microsoft.com/office/drawing/2014/main" id="{77E93FB4-37E6-49C3-A0E1-CC40D72E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771900"/>
            <a:ext cx="6248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368"/>
                </a:solidFill>
              </a:defRPr>
            </a:pPr>
            <a:r>
              <a:rPr sz="1875">
                <a:solidFill>
                  <a:srgbClr val="5F6368"/>
                </a:solidFill>
              </a:rPr>
              <a:t>global best copied back if needed</a:t>
            </a:r>
          </a:p>
        </p:txBody>
      </p:sp>
      <p:sp>
        <p:nvSpPr>
          <p:cNvPr id="16" name="discovery-pa-rule">
            <a:extLst xmlns:a="http://schemas.openxmlformats.org/drawingml/2006/main">
              <a:ext uri="{FF2B5EF4-FFF2-40B4-BE49-F238E27FC236}">
                <a16:creationId xmlns:a16="http://schemas.microsoft.com/office/drawing/2014/main" id="{DB43F5DE-7469-4CA5-8E77-909A19A0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7" name="paper-rule-cell">
            <a:extLst xmlns:a="http://schemas.openxmlformats.org/drawingml/2006/main">
              <a:ext uri="{FF2B5EF4-FFF2-40B4-BE49-F238E27FC236}">
                <a16:creationId xmlns:a16="http://schemas.microsoft.com/office/drawing/2014/main" id="{D331D300-11B1-4287-B40C-8603A9FE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3886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B5CA5"/>
                </a:solidFill>
              </a:defRPr>
            </a:pPr>
            <a:r>
              <a:rPr sz="2400" b="1">
                <a:solidFill>
                  <a:srgbClr val="6B5CA5"/>
                </a:solidFill>
              </a:rPr>
              <a:t>Discovery pa</a:t>
            </a:r>
          </a:p>
        </p:txBody>
      </p:sp>
      <p:sp>
        <p:nvSpPr>
          <p:cNvPr id="18" name="meaning-cell">
            <a:extLst xmlns:a="http://schemas.openxmlformats.org/drawingml/2006/main">
              <a:ext uri="{FF2B5EF4-FFF2-40B4-BE49-F238E27FC236}">
                <a16:creationId xmlns:a16="http://schemas.microsoft.com/office/drawing/2014/main" id="{C8C5FC8D-EE62-4575-B517-8D396388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5829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3"/>
                </a:solidFill>
              </a:defRPr>
            </a:pPr>
            <a:r>
              <a:rPr sz="1875">
                <a:solidFill>
                  <a:srgbClr val="1F2933"/>
                </a:solidFill>
              </a:rPr>
              <a:t>abandon weak regions</a:t>
            </a:r>
          </a:p>
        </p:txBody>
      </p:sp>
      <p:sp>
        <p:nvSpPr>
          <p:cNvPr id="19" name="implementation-cell">
            <a:extLst xmlns:a="http://schemas.openxmlformats.org/drawingml/2006/main">
              <a:ext uri="{FF2B5EF4-FFF2-40B4-BE49-F238E27FC236}">
                <a16:creationId xmlns:a16="http://schemas.microsoft.com/office/drawing/2014/main" id="{E2311006-DC83-46FF-A9B2-91AEC3C0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591050"/>
            <a:ext cx="6248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368"/>
                </a:solidFill>
              </a:defRPr>
            </a:pPr>
            <a:r>
              <a:rPr sz="1875">
                <a:solidFill>
                  <a:srgbClr val="5F6368"/>
                </a:solidFill>
              </a:rPr>
              <a:t>population random-walk replacement</a:t>
            </a:r>
          </a:p>
        </p:txBody>
      </p:sp>
      <p:sp>
        <p:nvSpPr>
          <p:cNvPr id="20" name="mapping-bottom-rule">
            <a:extLst xmlns:a="http://schemas.openxmlformats.org/drawingml/2006/main">
              <a:ext uri="{FF2B5EF4-FFF2-40B4-BE49-F238E27FC236}">
                <a16:creationId xmlns:a16="http://schemas.microsoft.com/office/drawing/2014/main" id="{6FED9BF8-235D-4A50-AFFD-DB5A648A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2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92375D9-17BA-424D-9DED-2F1FDBE4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0"/>
            <a:ext cx="52006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46A73"/>
                </a:solidFill>
              </a:defRPr>
            </a:pPr>
            <a:r>
              <a:rPr sz="4200" b="1">
                <a:solidFill>
                  <a:srgbClr val="246A73"/>
                </a:solidFill>
              </a:rPr>
              <a:t>x in R^10</a:t>
            </a:r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5C8135B-BF15-487A-8B25-DAEF36A4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81900"/>
            <a:ext cx="520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candidate</a:t>
            </a:r>
          </a:p>
        </p:txBody>
      </p:sp>
      <p:sp>
        <p:nvSpPr>
          <p:cNvPr id="2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C875179-9F3D-4BD6-8A96-2D2291E7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858000"/>
            <a:ext cx="52006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5532F"/>
                </a:solidFill>
              </a:defRPr>
            </a:pPr>
            <a:r>
              <a:rPr sz="4200" b="1">
                <a:solidFill>
                  <a:srgbClr val="B5532F"/>
                </a:solidFill>
              </a:rPr>
              <a:t>min f(x)</a:t>
            </a:r>
          </a:p>
        </p:txBody>
      </p:sp>
      <p:sp>
        <p:nvSpPr>
          <p:cNvPr id="2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ADB5AF4-CA9D-4996-B339-590D9187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581900"/>
            <a:ext cx="520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fitness</a:t>
            </a:r>
          </a:p>
        </p:txBody>
      </p:sp>
      <p:sp>
        <p:nvSpPr>
          <p:cNvPr id="2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8629392-25F8-4203-A7D1-8B7FC058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858000"/>
            <a:ext cx="52006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6B5CA5"/>
                </a:solidFill>
              </a:defRPr>
            </a:pPr>
            <a:r>
              <a:rPr sz="4200" b="1">
                <a:solidFill>
                  <a:srgbClr val="6B5CA5"/>
                </a:solidFill>
              </a:rPr>
              <a:t>elitist</a:t>
            </a:r>
          </a:p>
        </p:txBody>
      </p:sp>
      <p:sp>
        <p:nvSpPr>
          <p:cNvPr id="2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1A1CA76C-AE95-4609-8EA6-F9925A43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581900"/>
            <a:ext cx="520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selection</a:t>
            </a:r>
          </a:p>
        </p:txBody>
      </p:sp>
      <p:sp>
        <p:nvSpPr>
          <p:cNvPr id="2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BDCCFA9-2DB9-467C-A453-EA58BC8B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Yang &amp; Deb, Cuckoo Search via Levy Flights, NaBIC 2009</a:t>
            </a:r>
          </a:p>
        </p:txBody>
      </p:sp>
    </p:spTree>
    <p:extLst>
      <p:ext uri="{BB962C8B-B14F-4D97-AF65-F5344CB8AC3E}">
        <p14:creationId xmlns:p14="http://schemas.microsoft.com/office/powerpoint/2010/main" val="21390158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5632F35-8DBB-427F-927F-CF02927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6A34A8C-528F-4590-BE6C-DB0A59B1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6A73"/>
                </a:solidFill>
              </a:defRPr>
            </a:pPr>
            <a:r>
              <a:rPr sz="1275" b="1">
                <a:solidFill>
                  <a:srgbClr val="246A73"/>
                </a:solidFill>
              </a:rPr>
              <a:t>ALGORITHM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6C4D59-C525-42CA-8511-C728A7C9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"/>
            <a:ext cx="16649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933"/>
                </a:solidFill>
              </a:defRPr>
            </a:pPr>
            <a:r>
              <a:rPr sz="4650" b="1">
                <a:solidFill>
                  <a:srgbClr val="1F2933"/>
                </a:solidFill>
              </a:rPr>
              <a:t>The CS loop is short enough to explain live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8D2ABCA-4E04-47BF-80FC-1B95066E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8305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F6368"/>
                </a:solidFill>
              </a:defRPr>
            </a:pPr>
            <a:r>
              <a:rPr sz="2025">
                <a:solidFill>
                  <a:srgbClr val="5F6368"/>
                </a:solidFill>
              </a:rPr>
              <a:t>Most implementation complexity is in the Levy sampler and boundary handling.</a:t>
            </a:r>
          </a:p>
        </p:txBody>
      </p:sp>
      <p:sp>
        <p:nvSpPr>
          <p:cNvPr id="5" name="bullet-mark">
            <a:extLst xmlns:a="http://schemas.openxmlformats.org/drawingml/2006/main">
              <a:ext uri="{FF2B5EF4-FFF2-40B4-BE49-F238E27FC236}">
                <a16:creationId xmlns:a16="http://schemas.microsoft.com/office/drawing/2014/main" id="{E1C98B69-2B07-4A88-9F47-39A4990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73"/>
          </a:solidFill>
        </p:spPr>
      </p:sp>
      <p:sp>
        <p:nvSpPr>
          <p:cNvPr id="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BE5D92B4-4527-4420-BFD9-1E4157AD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923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Initialize fixed number of nests uniformly in the search domain.</a:t>
            </a:r>
          </a:p>
        </p:txBody>
      </p:sp>
      <p:sp>
        <p:nvSpPr>
          <p:cNvPr id="7" name="bullet-mark">
            <a:extLst xmlns:a="http://schemas.openxmlformats.org/drawingml/2006/main">
              <a:ext uri="{FF2B5EF4-FFF2-40B4-BE49-F238E27FC236}">
                <a16:creationId xmlns:a16="http://schemas.microsoft.com/office/drawing/2014/main" id="{D023F167-DE0C-4E26-BD8E-6E13D56E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532F"/>
          </a:solidFill>
        </p:spPr>
      </p:sp>
      <p:sp>
        <p:nvSpPr>
          <p:cNvPr id="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D359E875-4E90-4374-865B-3EBF8D44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923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Generate new nests with Levy flights.</a:t>
            </a:r>
          </a:p>
        </p:txBody>
      </p:sp>
      <p:sp>
        <p:nvSpPr>
          <p:cNvPr id="9" name="bullet-mark">
            <a:extLst xmlns:a="http://schemas.openxmlformats.org/drawingml/2006/main">
              <a:ext uri="{FF2B5EF4-FFF2-40B4-BE49-F238E27FC236}">
                <a16:creationId xmlns:a16="http://schemas.microsoft.com/office/drawing/2014/main" id="{1A94213E-B392-4A28-9C47-6F100F79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</p:spPr>
      </p:sp>
      <p:sp>
        <p:nvSpPr>
          <p:cNvPr id="1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9F89F4F3-1173-48C0-B8C5-DCDFD900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23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Keep a candidate only when it improves fitness.</a:t>
            </a:r>
          </a:p>
        </p:txBody>
      </p:sp>
      <p:sp>
        <p:nvSpPr>
          <p:cNvPr id="11" name="bullet-mark">
            <a:extLst xmlns:a="http://schemas.openxmlformats.org/drawingml/2006/main">
              <a:ext uri="{FF2B5EF4-FFF2-40B4-BE49-F238E27FC236}">
                <a16:creationId xmlns:a16="http://schemas.microsoft.com/office/drawing/2014/main" id="{AAC35F14-3AB5-4C66-90BF-CF249DDE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5CA5"/>
          </a:solidFill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AB9CA1E4-2C3D-4C55-8A6A-A65A73A4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923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Discover/replace part of the population using pa.</a:t>
            </a:r>
          </a:p>
        </p:txBody>
      </p:sp>
      <p:sp>
        <p:nvSpPr>
          <p:cNvPr id="13" name="bullet-mark">
            <a:extLst xmlns:a="http://schemas.openxmlformats.org/drawingml/2006/main">
              <a:ext uri="{FF2B5EF4-FFF2-40B4-BE49-F238E27FC236}">
                <a16:creationId xmlns:a16="http://schemas.microsoft.com/office/drawing/2014/main" id="{01BB3806-E94A-4D0D-B0C6-C8395563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9A3A"/>
          </a:solidFill>
        </p:spPr>
      </p:sp>
      <p:sp>
        <p:nvSpPr>
          <p:cNvPr id="14" name="bullet-text">
            <a:extLst xmlns:a="http://schemas.openxmlformats.org/drawingml/2006/main">
              <a:ext uri="{FF2B5EF4-FFF2-40B4-BE49-F238E27FC236}">
                <a16:creationId xmlns:a16="http://schemas.microsoft.com/office/drawing/2014/main" id="{79EF8845-A551-4A7C-8C0F-ACF05A33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923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Track the best nest after each iteration.</a:t>
            </a:r>
          </a:p>
        </p:txBody>
      </p:sp>
      <p:sp>
        <p:nvSpPr>
          <p:cNvPr id="15" name="code-artifact">
            <a:extLst xmlns:a="http://schemas.openxmlformats.org/drawingml/2006/main">
              <a:ext uri="{FF2B5EF4-FFF2-40B4-BE49-F238E27FC236}">
                <a16:creationId xmlns:a16="http://schemas.microsoft.com/office/drawing/2014/main" id="{E547DF0C-BBFB-4A20-BEBA-42436AD8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44140"/>
            <a:ext cx="6667500" cy="2689860"/>
          </a:xfrm>
          <a:prstGeom xmlns:a="http://schemas.openxmlformats.org/drawingml/2006/main" prst="roundRect">
            <a:avLst>
              <a:gd name="adj" fmla="val 2833"/>
            </a:avLst>
          </a:prstGeom>
          <a:solidFill xmlns:a="http://schemas.openxmlformats.org/drawingml/2006/main">
            <a:srgbClr val="F4EFE7"/>
          </a:solidFill>
        </p:spPr>
      </p:sp>
      <p:sp>
        <p:nvSpPr>
          <p:cNvPr id="16" name="pseudo-code">
            <a:extLst xmlns:a="http://schemas.openxmlformats.org/drawingml/2006/main">
              <a:ext uri="{FF2B5EF4-FFF2-40B4-BE49-F238E27FC236}">
                <a16:creationId xmlns:a16="http://schemas.microsoft.com/office/drawing/2014/main" id="{B7D44BAD-D869-450F-B14E-E5175081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95600"/>
            <a:ext cx="6096000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933"/>
                </a:solidFill>
              </a:defRPr>
            </a:pPr>
            <a:r>
              <a:rPr sz="1800">
                <a:solidFill>
                  <a:srgbClr val="1F2933"/>
                </a:solidFill>
              </a:rPr>
              <a:t>for iteration in range(max_iter):</a:t>
            </a:r>
          </a:p>
          <a:p xmlns:a="http://schemas.openxmlformats.org/drawingml/2006/main">
            <a:pPr>
              <a:defRPr sz="1800">
                <a:solidFill>
                  <a:srgbClr val="1F2933"/>
                </a:solidFill>
              </a:defRPr>
            </a:pPr>
            <a:r>
              <a:rPr sz="1800">
                <a:solidFill>
                  <a:srgbClr val="1F2933"/>
                </a:solidFill>
              </a:rPr>
              <a:t>    new = levy_flight(nests, best)</a:t>
            </a:r>
          </a:p>
          <a:p xmlns:a="http://schemas.openxmlformats.org/drawingml/2006/main">
            <a:pPr>
              <a:defRPr sz="1800">
                <a:solidFill>
                  <a:srgbClr val="1F2933"/>
                </a:solidFill>
              </a:defRPr>
            </a:pPr>
            <a:r>
              <a:rPr sz="1800">
                <a:solidFill>
                  <a:srgbClr val="1F2933"/>
                </a:solidFill>
              </a:rPr>
              <a:t>    nests = keep_improvements(nests, new)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F2933"/>
                </a:solidFill>
              </a:defRPr>
            </a:pPr>
            <a:r>
              <a:rPr sz="1800">
                <a:solidFill>
                  <a:srgbClr val="1F2933"/>
                </a:solidFill>
              </a:rPr>
              <a:t>    discovered = random_walk(nests, pa)</a:t>
            </a:r>
          </a:p>
          <a:p xmlns:a="http://schemas.openxmlformats.org/drawingml/2006/main">
            <a:pPr>
              <a:defRPr sz="1800">
                <a:solidFill>
                  <a:srgbClr val="1F2933"/>
                </a:solidFill>
              </a:defRPr>
            </a:pPr>
            <a:r>
              <a:rPr sz="1800">
                <a:solidFill>
                  <a:srgbClr val="1F2933"/>
                </a:solidFill>
              </a:rPr>
              <a:t>    nests = keep_improvements(nests, discovered)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F2933"/>
                </a:solidFill>
              </a:defRPr>
            </a:pPr>
            <a:r>
              <a:rPr sz="1800">
                <a:solidFill>
                  <a:srgbClr val="1F2933"/>
                </a:solidFill>
              </a:rPr>
              <a:t>    best = min(nests, key=fitness)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797009B-4D62-4534-BD3E-AB402900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Yang &amp; Deb, Cuckoo Search via Levy Flights, NaBIC 2009</a:t>
            </a:r>
          </a:p>
        </p:txBody>
      </p:sp>
    </p:spTree>
    <p:extLst>
      <p:ext uri="{BB962C8B-B14F-4D97-AF65-F5344CB8AC3E}">
        <p14:creationId xmlns:p14="http://schemas.microsoft.com/office/powerpoint/2010/main" val="7198367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20E31F2-9F4C-4871-9227-0CB4BBB7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6FF43AA-B95F-4F04-8F6A-D1EE6456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6A73"/>
                </a:solidFill>
              </a:defRPr>
            </a:pPr>
            <a:r>
              <a:rPr sz="1275" b="1">
                <a:solidFill>
                  <a:srgbClr val="246A73"/>
                </a:solidFill>
              </a:rPr>
              <a:t>LEVY FLIGHTS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101307-19C0-435C-ADF0-2D282B0E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"/>
            <a:ext cx="16649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933"/>
                </a:solidFill>
              </a:defRPr>
            </a:pPr>
            <a:r>
              <a:rPr sz="4650" b="1">
                <a:solidFill>
                  <a:srgbClr val="1F2933"/>
                </a:solidFill>
              </a:rPr>
              <a:t>Small steps usually, large jumps sometimes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DBE4A4-EF8A-44B7-BC60-FAD40975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1753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F6368"/>
                </a:solidFill>
              </a:defRPr>
            </a:pPr>
            <a:r>
              <a:rPr sz="2025">
                <a:solidFill>
                  <a:srgbClr val="5F6368"/>
                </a:solidFill>
              </a:rPr>
              <a:t>That heavy tail is the search trick: local refinement remains possible, but the algorithm can still jump out of a bad basin.</a:t>
            </a:r>
          </a:p>
        </p:txBody>
      </p:sp>
      <p:sp>
        <p:nvSpPr>
          <p:cNvPr id="5" name="mini-metric-value">
            <a:extLst xmlns:a="http://schemas.openxmlformats.org/drawingml/2006/main">
              <a:ext uri="{FF2B5EF4-FFF2-40B4-BE49-F238E27FC236}">
                <a16:creationId xmlns:a16="http://schemas.microsoft.com/office/drawing/2014/main" id="{61F16511-CD86-4E1A-948F-61645278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8553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6A73"/>
                </a:solidFill>
              </a:defRPr>
            </a:pPr>
            <a:r>
              <a:rPr sz="3600" b="1">
                <a:solidFill>
                  <a:srgbClr val="246A73"/>
                </a:solidFill>
              </a:rPr>
              <a:t>small</a:t>
            </a:r>
          </a:p>
        </p:txBody>
      </p:sp>
      <p:sp>
        <p:nvSpPr>
          <p:cNvPr id="6" name="mini-metric-label">
            <a:extLst xmlns:a="http://schemas.openxmlformats.org/drawingml/2006/main">
              <a:ext uri="{FF2B5EF4-FFF2-40B4-BE49-F238E27FC236}">
                <a16:creationId xmlns:a16="http://schemas.microsoft.com/office/drawing/2014/main" id="{F125DD7A-5C56-45E6-B616-4EDDD617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855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normal local search move</a:t>
            </a:r>
          </a:p>
        </p:txBody>
      </p:sp>
      <p:sp>
        <p:nvSpPr>
          <p:cNvPr id="7" name="mini-metric-value">
            <a:extLst xmlns:a="http://schemas.openxmlformats.org/drawingml/2006/main">
              <a:ext uri="{FF2B5EF4-FFF2-40B4-BE49-F238E27FC236}">
                <a16:creationId xmlns:a16="http://schemas.microsoft.com/office/drawing/2014/main" id="{28354D4C-180F-4633-8E7B-A4895114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8553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5532F"/>
                </a:solidFill>
              </a:defRPr>
            </a:pPr>
            <a:r>
              <a:rPr sz="3600" b="1">
                <a:solidFill>
                  <a:srgbClr val="B5532F"/>
                </a:solidFill>
              </a:rPr>
              <a:t>rare</a:t>
            </a:r>
          </a:p>
        </p:txBody>
      </p:sp>
      <p:sp>
        <p:nvSpPr>
          <p:cNvPr id="8" name="mini-metric-label">
            <a:extLst xmlns:a="http://schemas.openxmlformats.org/drawingml/2006/main">
              <a:ext uri="{FF2B5EF4-FFF2-40B4-BE49-F238E27FC236}">
                <a16:creationId xmlns:a16="http://schemas.microsoft.com/office/drawing/2014/main" id="{048AE2AE-D047-4F73-BFD8-D1833F9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855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Levy-flight escape move</a:t>
            </a:r>
          </a:p>
        </p:txBody>
      </p:sp>
      <p:sp>
        <p:nvSpPr>
          <p:cNvPr id="9" name="mini-metric-value">
            <a:extLst xmlns:a="http://schemas.openxmlformats.org/drawingml/2006/main">
              <a:ext uri="{FF2B5EF4-FFF2-40B4-BE49-F238E27FC236}">
                <a16:creationId xmlns:a16="http://schemas.microsoft.com/office/drawing/2014/main" id="{1D8552AC-B5DA-4FA0-B7B3-1A49927B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10350"/>
            <a:ext cx="8553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6B5CA5"/>
                </a:solidFill>
              </a:defRPr>
            </a:pPr>
            <a:r>
              <a:rPr sz="3600" b="1">
                <a:solidFill>
                  <a:srgbClr val="6B5CA5"/>
                </a:solidFill>
              </a:rPr>
              <a:t>mixed</a:t>
            </a:r>
          </a:p>
        </p:txBody>
      </p:sp>
      <p:sp>
        <p:nvSpPr>
          <p:cNvPr id="10" name="mini-metric-label">
            <a:extLst xmlns:a="http://schemas.openxmlformats.org/drawingml/2006/main">
              <a:ext uri="{FF2B5EF4-FFF2-40B4-BE49-F238E27FC236}">
                <a16:creationId xmlns:a16="http://schemas.microsoft.com/office/drawing/2014/main" id="{6B0C04D9-AB0F-47A9-9EA8-F404DCCC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19950"/>
            <a:ext cx="855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effect on search</a:t>
            </a:r>
          </a:p>
        </p:txBody>
      </p:sp>
      <p:sp>
        <p:nvSpPr>
          <p:cNvPr id="11" name="levy-formula-artifact">
            <a:extLst xmlns:a="http://schemas.openxmlformats.org/drawingml/2006/main">
              <a:ext uri="{FF2B5EF4-FFF2-40B4-BE49-F238E27FC236}">
                <a16:creationId xmlns:a16="http://schemas.microsoft.com/office/drawing/2014/main" id="{8465163B-008F-481A-A23D-A00729EA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876800"/>
            <a:ext cx="74295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EFE7"/>
          </a:solidFill>
        </p:spPr>
      </p:sp>
      <p:sp>
        <p:nvSpPr>
          <p:cNvPr id="12" name="formula-kicker">
            <a:extLst xmlns:a="http://schemas.openxmlformats.org/drawingml/2006/main">
              <a:ext uri="{FF2B5EF4-FFF2-40B4-BE49-F238E27FC236}">
                <a16:creationId xmlns:a16="http://schemas.microsoft.com/office/drawing/2014/main" id="{B4D97D11-0F0E-4F08-B4C3-95C19157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62550"/>
            <a:ext cx="678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6A73"/>
                </a:solidFill>
              </a:defRPr>
            </a:pPr>
            <a:r>
              <a:rPr sz="1500" b="1">
                <a:solidFill>
                  <a:srgbClr val="246A73"/>
                </a:solidFill>
              </a:rPr>
              <a:t>Implementation detail</a:t>
            </a:r>
          </a:p>
        </p:txBody>
      </p:sp>
      <p:sp>
        <p:nvSpPr>
          <p:cNvPr id="13" name="formula-main">
            <a:extLst xmlns:a="http://schemas.openxmlformats.org/drawingml/2006/main">
              <a:ext uri="{FF2B5EF4-FFF2-40B4-BE49-F238E27FC236}">
                <a16:creationId xmlns:a16="http://schemas.microsoft.com/office/drawing/2014/main" id="{EE5528C6-7E3E-4C02-9F62-131E3380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562600"/>
            <a:ext cx="678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3"/>
                </a:solidFill>
              </a:defRPr>
            </a:pPr>
            <a:r>
              <a:rPr sz="1875">
                <a:solidFill>
                  <a:srgbClr val="1F2933"/>
                </a:solidFill>
              </a:rPr>
              <a:t>step = alpha * Levy(beta) * (x_i - best)</a:t>
            </a:r>
          </a:p>
        </p:txBody>
      </p:sp>
      <p:sp>
        <p:nvSpPr>
          <p:cNvPr id="14" name="formula-detail">
            <a:extLst xmlns:a="http://schemas.openxmlformats.org/drawingml/2006/main">
              <a:ext uri="{FF2B5EF4-FFF2-40B4-BE49-F238E27FC236}">
                <a16:creationId xmlns:a16="http://schemas.microsoft.com/office/drawing/2014/main" id="{B6DE823C-ED38-4C1B-BAF7-F8CEF3DB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019800"/>
            <a:ext cx="678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F2933"/>
                </a:solidFill>
              </a:defRPr>
            </a:pPr>
            <a:r>
              <a:rPr sz="1800">
                <a:solidFill>
                  <a:srgbClr val="1F2933"/>
                </a:solidFill>
              </a:rPr>
              <a:t>Mantegna sampler: Levy(beta) = u / |v|^(1 / beta), beta = 1.5</a:t>
            </a:r>
          </a:p>
        </p:txBody>
      </p:sp>
      <p:sp>
        <p:nvSpPr>
          <p:cNvPr id="15" name="formula-note">
            <a:extLst xmlns:a="http://schemas.openxmlformats.org/drawingml/2006/main">
              <a:ext uri="{FF2B5EF4-FFF2-40B4-BE49-F238E27FC236}">
                <a16:creationId xmlns:a16="http://schemas.microsoft.com/office/drawing/2014/main" id="{D5F48DEB-8126-4837-8432-AE32B187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57950"/>
            <a:ext cx="6781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6368"/>
                </a:solidFill>
              </a:defRPr>
            </a:pPr>
            <a:r>
              <a:rPr sz="1650">
                <a:solidFill>
                  <a:srgbClr val="5F6368"/>
                </a:solidFill>
              </a:rPr>
              <a:t>After the move, each coordinate is clipped to the benchmark domain.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795B398-0BFE-443F-A3D2-8EF6E2CF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Yang &amp; Deb, Cuckoo Search via Levy Flights, NaBIC 2009</a:t>
            </a:r>
          </a:p>
        </p:txBody>
      </p:sp>
    </p:spTree>
    <p:extLst>
      <p:ext uri="{BB962C8B-B14F-4D97-AF65-F5344CB8AC3E}">
        <p14:creationId xmlns:p14="http://schemas.microsoft.com/office/powerpoint/2010/main" val="15287588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F2228BB-6483-486A-ACA1-9F318075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526DF31-4485-4B82-B255-65D39A53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6A73"/>
                </a:solidFill>
              </a:defRPr>
            </a:pPr>
            <a:r>
              <a:rPr sz="1275" b="1">
                <a:solidFill>
                  <a:srgbClr val="246A73"/>
                </a:solidFill>
              </a:rPr>
              <a:t>DEMO DESIGN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7DEFEC-5404-4058-99AC-7A2D5AFF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"/>
            <a:ext cx="16649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933"/>
                </a:solidFill>
              </a:defRPr>
            </a:pPr>
            <a:r>
              <a:rPr sz="4650" b="1">
                <a:solidFill>
                  <a:srgbClr val="1F2933"/>
                </a:solidFill>
              </a:rPr>
              <a:t>Three benchmarks, one fair baseline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FAD4BEE-FDEE-432C-871C-BD612C32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9829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F6368"/>
                </a:solidFill>
              </a:defRPr>
            </a:pPr>
            <a:r>
              <a:rPr sz="2025">
                <a:solidFill>
                  <a:srgbClr val="5F6368"/>
                </a:solidFill>
              </a:rPr>
              <a:t>Continuous functions match the original CS paper, connect to the semester labs, and make the exploration-exploitation trade-off visible.</a:t>
            </a:r>
          </a:p>
        </p:txBody>
      </p:sp>
      <p:sp>
        <p:nvSpPr>
          <p:cNvPr id="5" name="b-h1">
            <a:extLst xmlns:a="http://schemas.openxmlformats.org/drawingml/2006/main">
              <a:ext uri="{FF2B5EF4-FFF2-40B4-BE49-F238E27FC236}">
                <a16:creationId xmlns:a16="http://schemas.microsoft.com/office/drawing/2014/main" id="{8FB53562-5226-47F5-AB45-83F4AD81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46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A73"/>
                </a:solidFill>
              </a:defRPr>
            </a:pPr>
            <a:r>
              <a:rPr sz="1650" b="1">
                <a:solidFill>
                  <a:srgbClr val="246A73"/>
                </a:solidFill>
              </a:rPr>
              <a:t>Function</a:t>
            </a:r>
          </a:p>
        </p:txBody>
      </p:sp>
      <p:sp>
        <p:nvSpPr>
          <p:cNvPr id="6" name="b-h2">
            <a:extLst xmlns:a="http://schemas.openxmlformats.org/drawingml/2006/main">
              <a:ext uri="{FF2B5EF4-FFF2-40B4-BE49-F238E27FC236}">
                <a16:creationId xmlns:a16="http://schemas.microsoft.com/office/drawing/2014/main" id="{16D82B61-9219-48BF-B828-305983C9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6700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A73"/>
                </a:solidFill>
              </a:defRPr>
            </a:pPr>
            <a:r>
              <a:rPr sz="1650" b="1">
                <a:solidFill>
                  <a:srgbClr val="246A73"/>
                </a:solidFill>
              </a:rPr>
              <a:t>Why it is useful</a:t>
            </a:r>
          </a:p>
        </p:txBody>
      </p:sp>
      <p:sp>
        <p:nvSpPr>
          <p:cNvPr id="7" name="b-h3">
            <a:extLst xmlns:a="http://schemas.openxmlformats.org/drawingml/2006/main">
              <a:ext uri="{FF2B5EF4-FFF2-40B4-BE49-F238E27FC236}">
                <a16:creationId xmlns:a16="http://schemas.microsoft.com/office/drawing/2014/main" id="{B115A5BD-CA03-4E73-9501-ED68969E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667000"/>
            <a:ext cx="6019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6A73"/>
                </a:solidFill>
              </a:defRPr>
            </a:pPr>
            <a:r>
              <a:rPr sz="1650" b="1">
                <a:solidFill>
                  <a:srgbClr val="246A73"/>
                </a:solidFill>
              </a:rPr>
              <a:t>Expected behavior</a:t>
            </a:r>
          </a:p>
        </p:txBody>
      </p:sp>
      <p:sp>
        <p:nvSpPr>
          <p:cNvPr id="8" name="sphere-rule">
            <a:extLst xmlns:a="http://schemas.openxmlformats.org/drawingml/2006/main">
              <a:ext uri="{FF2B5EF4-FFF2-40B4-BE49-F238E27FC236}">
                <a16:creationId xmlns:a16="http://schemas.microsoft.com/office/drawing/2014/main" id="{51ADB175-ABD0-4216-907A-06240465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9" name="sphere-name">
            <a:extLst xmlns:a="http://schemas.openxmlformats.org/drawingml/2006/main">
              <a:ext uri="{FF2B5EF4-FFF2-40B4-BE49-F238E27FC236}">
                <a16:creationId xmlns:a16="http://schemas.microsoft.com/office/drawing/2014/main" id="{75EA61F3-D8AA-41AD-B5E7-F1665A9D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46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6A73"/>
                </a:solidFill>
              </a:defRPr>
            </a:pPr>
            <a:r>
              <a:rPr sz="2850" b="1">
                <a:solidFill>
                  <a:srgbClr val="246A73"/>
                </a:solidFill>
              </a:rPr>
              <a:t>Sphere</a:t>
            </a:r>
          </a:p>
        </p:txBody>
      </p:sp>
      <p:sp>
        <p:nvSpPr>
          <p:cNvPr id="10" name="sphere-why">
            <a:extLst xmlns:a="http://schemas.openxmlformats.org/drawingml/2006/main">
              <a:ext uri="{FF2B5EF4-FFF2-40B4-BE49-F238E27FC236}">
                <a16:creationId xmlns:a16="http://schemas.microsoft.com/office/drawing/2014/main" id="{D9E906A1-B95A-4FE3-ABAB-FDFE2725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6496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3"/>
                </a:solidFill>
              </a:defRPr>
            </a:pPr>
            <a:r>
              <a:rPr sz="1875">
                <a:solidFill>
                  <a:srgbClr val="1F2933"/>
                </a:solidFill>
              </a:rPr>
              <a:t>smooth unimodal sanity check</a:t>
            </a:r>
          </a:p>
        </p:txBody>
      </p:sp>
      <p:sp>
        <p:nvSpPr>
          <p:cNvPr id="11" name="sphere-expected">
            <a:extLst xmlns:a="http://schemas.openxmlformats.org/drawingml/2006/main">
              <a:ext uri="{FF2B5EF4-FFF2-40B4-BE49-F238E27FC236}">
                <a16:creationId xmlns:a16="http://schemas.microsoft.com/office/drawing/2014/main" id="{DF773800-9CFB-4431-B1F3-D18F832A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219450"/>
            <a:ext cx="6019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368"/>
                </a:solidFill>
              </a:defRPr>
            </a:pPr>
            <a:r>
              <a:rPr sz="1875">
                <a:solidFill>
                  <a:srgbClr val="5F6368"/>
                </a:solidFill>
              </a:rPr>
              <a:t>converge close to zero</a:t>
            </a:r>
          </a:p>
        </p:txBody>
      </p:sp>
      <p:sp>
        <p:nvSpPr>
          <p:cNvPr id="12" name="rastrigin-rule">
            <a:extLst xmlns:a="http://schemas.openxmlformats.org/drawingml/2006/main">
              <a:ext uri="{FF2B5EF4-FFF2-40B4-BE49-F238E27FC236}">
                <a16:creationId xmlns:a16="http://schemas.microsoft.com/office/drawing/2014/main" id="{1F628287-A909-42E6-815E-08286125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3" name="rastrigin-name">
            <a:extLst xmlns:a="http://schemas.openxmlformats.org/drawingml/2006/main">
              <a:ext uri="{FF2B5EF4-FFF2-40B4-BE49-F238E27FC236}">
                <a16:creationId xmlns:a16="http://schemas.microsoft.com/office/drawing/2014/main" id="{5B8AB062-54DB-48AA-BBE8-B76A2BCF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346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5532F"/>
                </a:solidFill>
              </a:defRPr>
            </a:pPr>
            <a:r>
              <a:rPr sz="2850" b="1">
                <a:solidFill>
                  <a:srgbClr val="B5532F"/>
                </a:solidFill>
              </a:rPr>
              <a:t>Rastrigin</a:t>
            </a:r>
          </a:p>
        </p:txBody>
      </p:sp>
      <p:sp>
        <p:nvSpPr>
          <p:cNvPr id="14" name="rastrigin-why">
            <a:extLst xmlns:a="http://schemas.openxmlformats.org/drawingml/2006/main">
              <a:ext uri="{FF2B5EF4-FFF2-40B4-BE49-F238E27FC236}">
                <a16:creationId xmlns:a16="http://schemas.microsoft.com/office/drawing/2014/main" id="{032C62DD-F772-4BF8-9836-D8091007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76700"/>
            <a:ext cx="6496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3"/>
                </a:solidFill>
              </a:defRPr>
            </a:pPr>
            <a:r>
              <a:rPr sz="1875">
                <a:solidFill>
                  <a:srgbClr val="1F2933"/>
                </a:solidFill>
              </a:rPr>
              <a:t>regular local minima across the domain</a:t>
            </a:r>
          </a:p>
        </p:txBody>
      </p:sp>
      <p:sp>
        <p:nvSpPr>
          <p:cNvPr id="15" name="rastrigin-expected">
            <a:extLst xmlns:a="http://schemas.openxmlformats.org/drawingml/2006/main">
              <a:ext uri="{FF2B5EF4-FFF2-40B4-BE49-F238E27FC236}">
                <a16:creationId xmlns:a16="http://schemas.microsoft.com/office/drawing/2014/main" id="{E09113D4-47D6-456B-A453-5319B571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076700"/>
            <a:ext cx="6019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368"/>
                </a:solidFill>
              </a:defRPr>
            </a:pPr>
            <a:r>
              <a:rPr sz="1875">
                <a:solidFill>
                  <a:srgbClr val="5F6368"/>
                </a:solidFill>
              </a:rPr>
              <a:t>large jumps should help</a:t>
            </a:r>
          </a:p>
        </p:txBody>
      </p:sp>
      <p:sp>
        <p:nvSpPr>
          <p:cNvPr id="16" name="michalewicz-rule">
            <a:extLst xmlns:a="http://schemas.openxmlformats.org/drawingml/2006/main">
              <a:ext uri="{FF2B5EF4-FFF2-40B4-BE49-F238E27FC236}">
                <a16:creationId xmlns:a16="http://schemas.microsoft.com/office/drawing/2014/main" id="{6F2B2712-B0CE-44AA-806F-E6E3FBE3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7" name="michalewicz-name">
            <a:extLst xmlns:a="http://schemas.openxmlformats.org/drawingml/2006/main">
              <a:ext uri="{FF2B5EF4-FFF2-40B4-BE49-F238E27FC236}">
                <a16:creationId xmlns:a16="http://schemas.microsoft.com/office/drawing/2014/main" id="{8A93632C-5DA7-4A2A-B7C3-DB7092FA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346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B5CA5"/>
                </a:solidFill>
              </a:defRPr>
            </a:pPr>
            <a:r>
              <a:rPr sz="2850" b="1">
                <a:solidFill>
                  <a:srgbClr val="6B5CA5"/>
                </a:solidFill>
              </a:rPr>
              <a:t>Michalewicz</a:t>
            </a:r>
          </a:p>
        </p:txBody>
      </p:sp>
      <p:sp>
        <p:nvSpPr>
          <p:cNvPr id="18" name="michalewicz-why">
            <a:extLst xmlns:a="http://schemas.openxmlformats.org/drawingml/2006/main">
              <a:ext uri="{FF2B5EF4-FFF2-40B4-BE49-F238E27FC236}">
                <a16:creationId xmlns:a16="http://schemas.microsoft.com/office/drawing/2014/main" id="{FAF74381-D835-4D70-A31B-B953631B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33950"/>
            <a:ext cx="6496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3"/>
                </a:solidFill>
              </a:defRPr>
            </a:pPr>
            <a:r>
              <a:rPr sz="1875">
                <a:solidFill>
                  <a:srgbClr val="1F2933"/>
                </a:solidFill>
              </a:rPr>
              <a:t>sharp multimodal valleys</a:t>
            </a:r>
          </a:p>
        </p:txBody>
      </p:sp>
      <p:sp>
        <p:nvSpPr>
          <p:cNvPr id="19" name="michalewicz-expected">
            <a:extLst xmlns:a="http://schemas.openxmlformats.org/drawingml/2006/main">
              <a:ext uri="{FF2B5EF4-FFF2-40B4-BE49-F238E27FC236}">
                <a16:creationId xmlns:a16="http://schemas.microsoft.com/office/drawing/2014/main" id="{1B01DAAF-8391-4989-96C7-F5FCB4DF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933950"/>
            <a:ext cx="6019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368"/>
                </a:solidFill>
              </a:defRPr>
            </a:pPr>
            <a:r>
              <a:rPr sz="1875">
                <a:solidFill>
                  <a:srgbClr val="5F6368"/>
                </a:solidFill>
              </a:rPr>
              <a:t>good solutions, not guaranteed optimum</a:t>
            </a:r>
          </a:p>
        </p:txBody>
      </p:sp>
      <p:sp>
        <p:nvSpPr>
          <p:cNvPr id="20" name="benchmark-bottom-rule">
            <a:extLst xmlns:a="http://schemas.openxmlformats.org/drawingml/2006/main">
              <a:ext uri="{FF2B5EF4-FFF2-40B4-BE49-F238E27FC236}">
                <a16:creationId xmlns:a16="http://schemas.microsoft.com/office/drawing/2014/main" id="{F6DF94D3-0A39-450E-BF30-219F3F4A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2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D5D3378-8B7F-46ED-9229-1F40CA43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3829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46A73"/>
                </a:solidFill>
              </a:defRPr>
            </a:pPr>
            <a:r>
              <a:rPr sz="4200" b="1">
                <a:solidFill>
                  <a:srgbClr val="246A73"/>
                </a:solidFill>
              </a:rPr>
              <a:t>30</a:t>
            </a:r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9655888-98C5-410F-803D-2E18711A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34150"/>
            <a:ext cx="382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independent runs</a:t>
            </a:r>
          </a:p>
        </p:txBody>
      </p:sp>
      <p:sp>
        <p:nvSpPr>
          <p:cNvPr id="2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45B97FD-592C-498B-900F-5CDE1FB7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810250"/>
            <a:ext cx="3829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5532F"/>
                </a:solidFill>
              </a:defRPr>
            </a:pPr>
            <a:r>
              <a:rPr sz="4200" b="1">
                <a:solidFill>
                  <a:srgbClr val="B5532F"/>
                </a:solidFill>
              </a:rPr>
              <a:t>10D</a:t>
            </a:r>
          </a:p>
        </p:txBody>
      </p:sp>
      <p:sp>
        <p:nvSpPr>
          <p:cNvPr id="2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1211C06-6A4D-4C3B-A08D-EEE2FC6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534150"/>
            <a:ext cx="382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dimensions</a:t>
            </a:r>
          </a:p>
        </p:txBody>
      </p:sp>
      <p:sp>
        <p:nvSpPr>
          <p:cNvPr id="2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2453F1D-DE99-4FC8-811E-92B07E33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810250"/>
            <a:ext cx="3829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D19A3A"/>
                </a:solidFill>
              </a:defRPr>
            </a:pPr>
            <a:r>
              <a:rPr sz="4200" b="1">
                <a:solidFill>
                  <a:srgbClr val="D19A3A"/>
                </a:solidFill>
              </a:rPr>
              <a:t>~10k evals</a:t>
            </a:r>
          </a:p>
        </p:txBody>
      </p:sp>
      <p:sp>
        <p:nvSpPr>
          <p:cNvPr id="2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98E161E-E78C-4DA8-88A0-554DF481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534150"/>
            <a:ext cx="382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per-run budget</a:t>
            </a:r>
          </a:p>
        </p:txBody>
      </p:sp>
      <p:sp>
        <p:nvSpPr>
          <p:cNvPr id="2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20B701D6-BCCD-4EAF-B46A-CCFD5F8B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810250"/>
            <a:ext cx="3829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6B5CA5"/>
                </a:solidFill>
              </a:defRPr>
            </a:pPr>
            <a:r>
              <a:rPr sz="4200" b="1">
                <a:solidFill>
                  <a:srgbClr val="6B5CA5"/>
                </a:solidFill>
              </a:rPr>
              <a:t>same budget</a:t>
            </a:r>
          </a:p>
        </p:txBody>
      </p:sp>
      <p:sp>
        <p:nvSpPr>
          <p:cNvPr id="2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678CB74-EA25-4FE9-865C-1DA05147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534150"/>
            <a:ext cx="382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baseline</a:t>
            </a:r>
          </a:p>
        </p:txBody>
      </p:sp>
      <p:sp>
        <p:nvSpPr>
          <p:cNvPr id="2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06F528E-6D39-4633-8BB8-15E7B745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2945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Yang &amp; Deb, Cuckoo Search via Levy Flights, NaBIC 2009</a:t>
            </a:r>
          </a:p>
        </p:txBody>
      </p:sp>
    </p:spTree>
    <p:extLst>
      <p:ext uri="{BB962C8B-B14F-4D97-AF65-F5344CB8AC3E}">
        <p14:creationId xmlns:p14="http://schemas.microsoft.com/office/powerpoint/2010/main" val="8890394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02F40FF-F0FA-40BB-A3D9-F895AF02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0C1BD38-C1BA-4C5F-AECB-715F88CE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6A73"/>
                </a:solidFill>
              </a:defRPr>
            </a:pPr>
            <a:r>
              <a:rPr sz="1275" b="1">
                <a:solidFill>
                  <a:srgbClr val="246A73"/>
                </a:solidFill>
              </a:rPr>
              <a:t>RESULTS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297C74-B73D-4160-BC34-3459237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"/>
            <a:ext cx="16649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933"/>
                </a:solidFill>
              </a:defRPr>
            </a:pPr>
            <a:r>
              <a:rPr sz="4650" b="1">
                <a:solidFill>
                  <a:srgbClr val="1F2933"/>
                </a:solidFill>
              </a:rPr>
              <a:t>CS beats random search on every benchmark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4AF76E7-4DAC-4F1E-B70B-25A32D21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F6368"/>
                </a:solidFill>
              </a:defRPr>
            </a:pPr>
            <a:r>
              <a:rPr sz="2025">
                <a:solidFill>
                  <a:srgbClr val="5F6368"/>
                </a:solidFill>
              </a:rPr>
              <a:t>Best CS setting by average performance over 30 runs; lower objective value and smaller gap are better.</a:t>
            </a:r>
          </a:p>
        </p:txBody>
      </p:sp>
      <p:sp>
        <p:nvSpPr>
          <p:cNvPr id="5" name="table-cell-0">
            <a:extLst xmlns:a="http://schemas.openxmlformats.org/drawingml/2006/main">
              <a:ext uri="{FF2B5EF4-FFF2-40B4-BE49-F238E27FC236}">
                <a16:creationId xmlns:a16="http://schemas.microsoft.com/office/drawing/2014/main" id="{8E01A6C7-DA01-48F9-B2EE-8813BF7C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3009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3"/>
                </a:solidFill>
              </a:defRPr>
            </a:pPr>
            <a:r>
              <a:rPr sz="1350" b="1">
                <a:solidFill>
                  <a:srgbClr val="246A73"/>
                </a:solidFill>
              </a:rPr>
              <a:t>Benchmark</a:t>
            </a:r>
          </a:p>
        </p:txBody>
      </p:sp>
      <p:sp>
        <p:nvSpPr>
          <p:cNvPr id="6" name="table-cell-1">
            <a:extLst xmlns:a="http://schemas.openxmlformats.org/drawingml/2006/main">
              <a:ext uri="{FF2B5EF4-FFF2-40B4-BE49-F238E27FC236}">
                <a16:creationId xmlns:a16="http://schemas.microsoft.com/office/drawing/2014/main" id="{1B662E6E-65B6-4D45-B44F-6B25D02F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38400"/>
            <a:ext cx="388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3"/>
                </a:solidFill>
              </a:defRPr>
            </a:pPr>
            <a:r>
              <a:rPr sz="1350" b="1">
                <a:solidFill>
                  <a:srgbClr val="246A73"/>
                </a:solidFill>
              </a:rPr>
              <a:t>Best CS avg +/- std</a:t>
            </a:r>
          </a:p>
        </p:txBody>
      </p:sp>
      <p:sp>
        <p:nvSpPr>
          <p:cNvPr id="7" name="table-cell-2">
            <a:extLst xmlns:a="http://schemas.openxmlformats.org/drawingml/2006/main">
              <a:ext uri="{FF2B5EF4-FFF2-40B4-BE49-F238E27FC236}">
                <a16:creationId xmlns:a16="http://schemas.microsoft.com/office/drawing/2014/main" id="{4F212DF0-8E69-42A4-A172-4053464F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38400"/>
            <a:ext cx="3543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3"/>
                </a:solidFill>
              </a:defRPr>
            </a:pPr>
            <a:r>
              <a:rPr sz="1350" b="1">
                <a:solidFill>
                  <a:srgbClr val="246A73"/>
                </a:solidFill>
              </a:rPr>
              <a:t>Random avg</a:t>
            </a:r>
          </a:p>
        </p:txBody>
      </p:sp>
      <p:sp>
        <p:nvSpPr>
          <p:cNvPr id="8" name="table-cell-3">
            <a:extLst xmlns:a="http://schemas.openxmlformats.org/drawingml/2006/main">
              <a:ext uri="{FF2B5EF4-FFF2-40B4-BE49-F238E27FC236}">
                <a16:creationId xmlns:a16="http://schemas.microsoft.com/office/drawing/2014/main" id="{61668417-D764-489E-A7E4-9ECEE897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43840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3"/>
                </a:solidFill>
              </a:defRPr>
            </a:pPr>
            <a:r>
              <a:rPr sz="1350" b="1">
                <a:solidFill>
                  <a:srgbClr val="246A73"/>
                </a:solidFill>
              </a:rPr>
              <a:t>Gap</a:t>
            </a:r>
          </a:p>
        </p:txBody>
      </p:sp>
      <p:sp>
        <p:nvSpPr>
          <p:cNvPr id="9" name="table-cell-4">
            <a:extLst xmlns:a="http://schemas.openxmlformats.org/drawingml/2006/main">
              <a:ext uri="{FF2B5EF4-FFF2-40B4-BE49-F238E27FC236}">
                <a16:creationId xmlns:a16="http://schemas.microsoft.com/office/drawing/2014/main" id="{6C336D8A-CD04-47A6-A53D-BDB36442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38400"/>
            <a:ext cx="260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3"/>
                </a:solidFill>
              </a:defRPr>
            </a:pPr>
            <a:r>
              <a:rPr sz="1350" b="1">
                <a:solidFill>
                  <a:srgbClr val="246A73"/>
                </a:solidFill>
              </a:rPr>
              <a:t>Wins</a:t>
            </a:r>
          </a:p>
        </p:txBody>
      </p:sp>
      <p:sp>
        <p:nvSpPr>
          <p:cNvPr id="10" name="table-rule">
            <a:extLst xmlns:a="http://schemas.openxmlformats.org/drawingml/2006/main">
              <a:ext uri="{FF2B5EF4-FFF2-40B4-BE49-F238E27FC236}">
                <a16:creationId xmlns:a16="http://schemas.microsoft.com/office/drawing/2014/main" id="{657257E5-374E-4BDE-B56E-30AE3EE2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664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1" name="table-cell-0">
            <a:extLst xmlns:a="http://schemas.openxmlformats.org/drawingml/2006/main">
              <a:ext uri="{FF2B5EF4-FFF2-40B4-BE49-F238E27FC236}">
                <a16:creationId xmlns:a16="http://schemas.microsoft.com/office/drawing/2014/main" id="{6CF8DF93-882C-414E-B409-9ED02A43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300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Sphere</a:t>
            </a:r>
          </a:p>
        </p:txBody>
      </p:sp>
      <p:sp>
        <p:nvSpPr>
          <p:cNvPr id="12" name="table-cell-1">
            <a:extLst xmlns:a="http://schemas.openxmlformats.org/drawingml/2006/main">
              <a:ext uri="{FF2B5EF4-FFF2-40B4-BE49-F238E27FC236}">
                <a16:creationId xmlns:a16="http://schemas.microsoft.com/office/drawing/2014/main" id="{3860212E-85CD-4506-9062-947674F0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388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exploratory: 3.00e-7 +/- 3.39e-7</a:t>
            </a:r>
          </a:p>
        </p:txBody>
      </p:sp>
      <p:sp>
        <p:nvSpPr>
          <p:cNvPr id="13" name="table-cell-2">
            <a:extLst xmlns:a="http://schemas.openxmlformats.org/drawingml/2006/main">
              <a:ext uri="{FF2B5EF4-FFF2-40B4-BE49-F238E27FC236}">
                <a16:creationId xmlns:a16="http://schemas.microsoft.com/office/drawing/2014/main" id="{7E08AFC5-F937-4D2C-BE24-FED4C87D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3543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12.50</a:t>
            </a:r>
          </a:p>
        </p:txBody>
      </p:sp>
      <p:sp>
        <p:nvSpPr>
          <p:cNvPr id="14" name="table-cell-3">
            <a:extLst xmlns:a="http://schemas.openxmlformats.org/drawingml/2006/main">
              <a:ext uri="{FF2B5EF4-FFF2-40B4-BE49-F238E27FC236}">
                <a16:creationId xmlns:a16="http://schemas.microsoft.com/office/drawing/2014/main" id="{111535D1-1A48-47A9-8840-8665F805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87655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3.00e-7</a:t>
            </a:r>
          </a:p>
        </p:txBody>
      </p:sp>
      <p:sp>
        <p:nvSpPr>
          <p:cNvPr id="15" name="table-cell-4">
            <a:extLst xmlns:a="http://schemas.openxmlformats.org/drawingml/2006/main">
              <a:ext uri="{FF2B5EF4-FFF2-40B4-BE49-F238E27FC236}">
                <a16:creationId xmlns:a16="http://schemas.microsoft.com/office/drawing/2014/main" id="{438AC59A-BB1A-42C6-99E8-C1387326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87655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30/30</a:t>
            </a:r>
          </a:p>
        </p:txBody>
      </p:sp>
      <p:sp>
        <p:nvSpPr>
          <p:cNvPr id="16" name="row-rule-0">
            <a:extLst xmlns:a="http://schemas.openxmlformats.org/drawingml/2006/main">
              <a:ext uri="{FF2B5EF4-FFF2-40B4-BE49-F238E27FC236}">
                <a16:creationId xmlns:a16="http://schemas.microsoft.com/office/drawing/2014/main" id="{587F12CD-6B13-4C5C-8B3E-96E96529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17" name="table-cell-0">
            <a:extLst xmlns:a="http://schemas.openxmlformats.org/drawingml/2006/main">
              <a:ext uri="{FF2B5EF4-FFF2-40B4-BE49-F238E27FC236}">
                <a16:creationId xmlns:a16="http://schemas.microsoft.com/office/drawing/2014/main" id="{A7B20964-6EEC-450B-90C2-1B653AEA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300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Rastrigin</a:t>
            </a:r>
          </a:p>
        </p:txBody>
      </p:sp>
      <p:sp>
        <p:nvSpPr>
          <p:cNvPr id="18" name="table-cell-1">
            <a:extLst xmlns:a="http://schemas.openxmlformats.org/drawingml/2006/main">
              <a:ext uri="{FF2B5EF4-FFF2-40B4-BE49-F238E27FC236}">
                <a16:creationId xmlns:a16="http://schemas.microsoft.com/office/drawing/2014/main" id="{414953BB-AB68-4611-8BA7-6F64FA1C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52800"/>
            <a:ext cx="388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balanced: 11.82 +/- 5.651</a:t>
            </a:r>
          </a:p>
        </p:txBody>
      </p:sp>
      <p:sp>
        <p:nvSpPr>
          <p:cNvPr id="19" name="table-cell-2">
            <a:extLst xmlns:a="http://schemas.openxmlformats.org/drawingml/2006/main">
              <a:ext uri="{FF2B5EF4-FFF2-40B4-BE49-F238E27FC236}">
                <a16:creationId xmlns:a16="http://schemas.microsoft.com/office/drawing/2014/main" id="{59E3AA40-EE35-4127-9CFE-D265B4D0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52800"/>
            <a:ext cx="3543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68.38</a:t>
            </a:r>
          </a:p>
        </p:txBody>
      </p:sp>
      <p:sp>
        <p:nvSpPr>
          <p:cNvPr id="20" name="table-cell-3">
            <a:extLst xmlns:a="http://schemas.openxmlformats.org/drawingml/2006/main">
              <a:ext uri="{FF2B5EF4-FFF2-40B4-BE49-F238E27FC236}">
                <a16:creationId xmlns:a16="http://schemas.microsoft.com/office/drawing/2014/main" id="{93D94F05-854B-4482-9AB8-57A8EC7D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528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11.82</a:t>
            </a:r>
          </a:p>
        </p:txBody>
      </p:sp>
      <p:sp>
        <p:nvSpPr>
          <p:cNvPr id="21" name="table-cell-4">
            <a:extLst xmlns:a="http://schemas.openxmlformats.org/drawingml/2006/main">
              <a:ext uri="{FF2B5EF4-FFF2-40B4-BE49-F238E27FC236}">
                <a16:creationId xmlns:a16="http://schemas.microsoft.com/office/drawing/2014/main" id="{64813306-36D6-4550-84D2-E5F71D49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3528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30/30</a:t>
            </a:r>
          </a:p>
        </p:txBody>
      </p:sp>
      <p:sp>
        <p:nvSpPr>
          <p:cNvPr id="22" name="row-rule-1">
            <a:extLst xmlns:a="http://schemas.openxmlformats.org/drawingml/2006/main">
              <a:ext uri="{FF2B5EF4-FFF2-40B4-BE49-F238E27FC236}">
                <a16:creationId xmlns:a16="http://schemas.microsoft.com/office/drawing/2014/main" id="{845CCD3B-2800-48D1-ACD8-74C6C853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23" name="table-cell-0">
            <a:extLst xmlns:a="http://schemas.openxmlformats.org/drawingml/2006/main">
              <a:ext uri="{FF2B5EF4-FFF2-40B4-BE49-F238E27FC236}">
                <a16:creationId xmlns:a16="http://schemas.microsoft.com/office/drawing/2014/main" id="{7BEFCB99-FC73-469A-A4D5-6CB40733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300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Michalewicz</a:t>
            </a:r>
          </a:p>
        </p:txBody>
      </p:sp>
      <p:sp>
        <p:nvSpPr>
          <p:cNvPr id="24" name="table-cell-1">
            <a:extLst xmlns:a="http://schemas.openxmlformats.org/drawingml/2006/main">
              <a:ext uri="{FF2B5EF4-FFF2-40B4-BE49-F238E27FC236}">
                <a16:creationId xmlns:a16="http://schemas.microsoft.com/office/drawing/2014/main" id="{80DA4CCD-B8E4-460E-9C0C-366BDFA6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10000"/>
            <a:ext cx="388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exploratory: -8.601 +/- 0.642</a:t>
            </a:r>
          </a:p>
        </p:txBody>
      </p:sp>
      <p:sp>
        <p:nvSpPr>
          <p:cNvPr id="25" name="table-cell-2">
            <a:extLst xmlns:a="http://schemas.openxmlformats.org/drawingml/2006/main">
              <a:ext uri="{FF2B5EF4-FFF2-40B4-BE49-F238E27FC236}">
                <a16:creationId xmlns:a16="http://schemas.microsoft.com/office/drawing/2014/main" id="{D6FFDE7D-9DFD-412B-B2DB-1626E1BC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3543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-4.829</a:t>
            </a:r>
          </a:p>
        </p:txBody>
      </p:sp>
      <p:sp>
        <p:nvSpPr>
          <p:cNvPr id="26" name="table-cell-3">
            <a:extLst xmlns:a="http://schemas.openxmlformats.org/drawingml/2006/main">
              <a:ext uri="{FF2B5EF4-FFF2-40B4-BE49-F238E27FC236}">
                <a16:creationId xmlns:a16="http://schemas.microsoft.com/office/drawing/2014/main" id="{C90A527D-9EFE-4F7F-8886-3A9ACC02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810000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1.059</a:t>
            </a:r>
          </a:p>
        </p:txBody>
      </p:sp>
      <p:sp>
        <p:nvSpPr>
          <p:cNvPr id="27" name="table-cell-4">
            <a:extLst xmlns:a="http://schemas.openxmlformats.org/drawingml/2006/main">
              <a:ext uri="{FF2B5EF4-FFF2-40B4-BE49-F238E27FC236}">
                <a16:creationId xmlns:a16="http://schemas.microsoft.com/office/drawing/2014/main" id="{C31C1268-CC3F-42B1-8D1C-C064EB31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8100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30/30</a:t>
            </a:r>
          </a:p>
        </p:txBody>
      </p:sp>
      <p:sp>
        <p:nvSpPr>
          <p:cNvPr id="28" name="row-rule-2">
            <a:extLst xmlns:a="http://schemas.openxmlformats.org/drawingml/2006/main">
              <a:ext uri="{FF2B5EF4-FFF2-40B4-BE49-F238E27FC236}">
                <a16:creationId xmlns:a16="http://schemas.microsoft.com/office/drawing/2014/main" id="{5B7CE5AF-34FC-40D5-95CB-F1A36FC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D8D1C8"/>
            </a:solidFill>
            <a:prstDash val="solid"/>
          </a:ln>
        </p:spPr>
      </p:sp>
      <p:sp>
        <p:nvSpPr>
          <p:cNvPr id="2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B3AB7ED-7914-4AF1-8F68-501F3084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62700"/>
            <a:ext cx="5238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46A73"/>
                </a:solidFill>
              </a:defRPr>
            </a:pPr>
            <a:r>
              <a:rPr sz="4200" b="1">
                <a:solidFill>
                  <a:srgbClr val="246A73"/>
                </a:solidFill>
              </a:rPr>
              <a:t>3.00e-7</a:t>
            </a:r>
          </a:p>
        </p:txBody>
      </p:sp>
      <p:sp>
        <p:nvSpPr>
          <p:cNvPr id="3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55EF0D8-A93B-4BEA-9EB3-F508B7DA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86600"/>
            <a:ext cx="523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Sphere avg</a:t>
            </a:r>
          </a:p>
        </p:txBody>
      </p:sp>
      <p:sp>
        <p:nvSpPr>
          <p:cNvPr id="3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ED91B5C-7163-44D0-B80C-1231082A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362700"/>
            <a:ext cx="5238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5532F"/>
                </a:solidFill>
              </a:defRPr>
            </a:pPr>
            <a:r>
              <a:rPr sz="4200" b="1">
                <a:solidFill>
                  <a:srgbClr val="B5532F"/>
                </a:solidFill>
              </a:rPr>
              <a:t>11.82</a:t>
            </a:r>
          </a:p>
        </p:txBody>
      </p:sp>
      <p:sp>
        <p:nvSpPr>
          <p:cNvPr id="3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856FA08-82F6-49E0-8CFB-53F1DC1A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7086600"/>
            <a:ext cx="523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Rastrigin avg</a:t>
            </a:r>
          </a:p>
        </p:txBody>
      </p:sp>
      <p:sp>
        <p:nvSpPr>
          <p:cNvPr id="3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DBE7C3E-0E69-4D5F-837B-4A74A8FE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362700"/>
            <a:ext cx="5238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6B5CA5"/>
                </a:solidFill>
              </a:defRPr>
            </a:pPr>
            <a:r>
              <a:rPr sz="4200" b="1">
                <a:solidFill>
                  <a:srgbClr val="6B5CA5"/>
                </a:solidFill>
              </a:rPr>
              <a:t>-9.379</a:t>
            </a:r>
          </a:p>
        </p:txBody>
      </p:sp>
      <p:sp>
        <p:nvSpPr>
          <p:cNvPr id="3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3E1BF30-9C96-40CE-B7B2-82C00210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7086600"/>
            <a:ext cx="523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Michalewicz best run</a:t>
            </a:r>
          </a:p>
        </p:txBody>
      </p:sp>
      <p:sp>
        <p:nvSpPr>
          <p:cNvPr id="3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1CCA7D0-4DDC-4662-B17B-DC9D05F2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Experiments in Cuckoo_Search_via_Levy_Flights_Final.ipynb; wins compare CS and Random Search run indices under the same budget.</a:t>
            </a:r>
          </a:p>
        </p:txBody>
      </p:sp>
    </p:spTree>
    <p:extLst>
      <p:ext uri="{BB962C8B-B14F-4D97-AF65-F5344CB8AC3E}">
        <p14:creationId xmlns:p14="http://schemas.microsoft.com/office/powerpoint/2010/main" val="1499716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77C5F4F-BD68-4516-A5AE-D2427D92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FE7AE00-4717-47AC-B96D-EE5D28F7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6A73"/>
                </a:solidFill>
              </a:defRPr>
            </a:pPr>
            <a:r>
              <a:rPr sz="1275" b="1">
                <a:solidFill>
                  <a:srgbClr val="246A73"/>
                </a:solidFill>
              </a:rPr>
              <a:t>CONVERGENCE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221902-A3C3-48C9-933D-9E22915B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"/>
            <a:ext cx="16649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933"/>
                </a:solidFill>
              </a:defRPr>
            </a:pPr>
            <a:r>
              <a:rPr sz="4650" b="1">
                <a:solidFill>
                  <a:srgbClr val="1F2933"/>
                </a:solidFill>
              </a:rPr>
              <a:t>The useful pattern is fast early improvement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0575D5A-8EF9-4F00-A06C-2E5EF610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9925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F6368"/>
                </a:solidFill>
              </a:defRPr>
            </a:pPr>
            <a:r>
              <a:rPr sz="2025">
                <a:solidFill>
                  <a:srgbClr val="5F6368"/>
                </a:solidFill>
              </a:rPr>
              <a:t>Average curves over 30 runs show where CS is stable and where it remains sensitive to settings.</a:t>
            </a:r>
          </a:p>
        </p:txBody>
      </p:sp>
      <p:pic>
        <p:nvPicPr>
          <p:cNvPr id="5" name="michalewicz-pl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6882e2dda4cb3"/>
          <a:stretch xmlns:a="http://schemas.openxmlformats.org/drawingml/2006/main"/>
        </p:blipFill>
        <p:spPr>
          <a:xfrm xmlns:a="http://schemas.openxmlformats.org/drawingml/2006/main">
            <a:off x="819150" y="2768954"/>
            <a:ext cx="10457656" cy="6349291"/>
          </a:xfrm>
          <a:prstGeom xmlns:a="http://schemas.openxmlformats.org/drawingml/2006/main" prst="rect">
            <a:avLst/>
          </a:prstGeom>
        </p:spPr>
      </p:pic>
      <p:sp>
        <p:nvSpPr>
          <p:cNvPr id="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CF43276-7136-4900-A640-8AE91DD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600450"/>
            <a:ext cx="5734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46A73"/>
                </a:solidFill>
              </a:defRPr>
            </a:pPr>
            <a:r>
              <a:rPr sz="4200" b="1">
                <a:solidFill>
                  <a:srgbClr val="246A73"/>
                </a:solidFill>
              </a:rPr>
              <a:t>steep drop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138B547-D568-4E76-83DA-C1624F08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324350"/>
            <a:ext cx="573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early phase</a:t>
            </a:r>
          </a:p>
        </p:txBody>
      </p:sp>
      <p:sp>
        <p:nvSpPr>
          <p:cNvPr id="8" name="read-1">
            <a:extLst xmlns:a="http://schemas.openxmlformats.org/drawingml/2006/main">
              <a:ext uri="{FF2B5EF4-FFF2-40B4-BE49-F238E27FC236}">
                <a16:creationId xmlns:a16="http://schemas.microsoft.com/office/drawing/2014/main" id="{977A5091-CCAE-4EE4-AE93-A8D6AE9A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819650"/>
            <a:ext cx="57340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Most improvement happens before the final iterations, which is typical for population metaheuristics.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E0C5110-6728-44B0-964E-E4C3581A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076950"/>
            <a:ext cx="5734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5532F"/>
                </a:solidFill>
              </a:defRPr>
            </a:pPr>
            <a:r>
              <a:rPr sz="4200" b="1">
                <a:solidFill>
                  <a:srgbClr val="B5532F"/>
                </a:solidFill>
              </a:rPr>
              <a:t>visible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E1C3642-F26E-4262-8969-3688A25B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781800"/>
            <a:ext cx="573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parameter effect</a:t>
            </a:r>
          </a:p>
        </p:txBody>
      </p:sp>
      <p:sp>
        <p:nvSpPr>
          <p:cNvPr id="11" name="read-2">
            <a:extLst xmlns:a="http://schemas.openxmlformats.org/drawingml/2006/main">
              <a:ext uri="{FF2B5EF4-FFF2-40B4-BE49-F238E27FC236}">
                <a16:creationId xmlns:a16="http://schemas.microsoft.com/office/drawing/2014/main" id="{E0177CCF-3793-4723-ABB8-D0F47361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7277100"/>
            <a:ext cx="57340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The exploratory setting reaches better Michalewicz values here, but it also has higher run-to-run variance.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F1AAACA-C501-43D8-8D48-5FA5415B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Representative plot from the same 30-run experiment; Sphere and Rastrigin plots are saved in the output folder.</a:t>
            </a:r>
          </a:p>
        </p:txBody>
      </p:sp>
    </p:spTree>
    <p:extLst>
      <p:ext uri="{BB962C8B-B14F-4D97-AF65-F5344CB8AC3E}">
        <p14:creationId xmlns:p14="http://schemas.microsoft.com/office/powerpoint/2010/main" val="16420663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FBD6F68-C9EC-4117-BEAE-80486501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AA92549-B68B-423C-85B2-EEFA964A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6A73"/>
                </a:solidFill>
              </a:defRPr>
            </a:pPr>
            <a:r>
              <a:rPr sz="1275" b="1">
                <a:solidFill>
                  <a:srgbClr val="246A73"/>
                </a:solidFill>
              </a:rPr>
              <a:t>DISCUSSION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376BED-190F-437D-9E0E-4FFC6E0B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"/>
            <a:ext cx="16649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F2933"/>
                </a:solidFill>
              </a:defRPr>
            </a:pPr>
            <a:r>
              <a:rPr sz="4650" b="1">
                <a:solidFill>
                  <a:srgbClr val="1F2933"/>
                </a:solidFill>
              </a:rPr>
              <a:t>The algorithm is simple, but not magic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9DA6A3-A587-4396-9890-CFF82EF5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0439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F6368"/>
                </a:solidFill>
              </a:defRPr>
            </a:pPr>
            <a:r>
              <a:rPr sz="2025">
                <a:solidFill>
                  <a:srgbClr val="5F6368"/>
                </a:solidFill>
              </a:rPr>
              <a:t>The important scientific point is the exploration-exploitation trade-off, not just the nature metaphor.</a:t>
            </a:r>
          </a:p>
        </p:txBody>
      </p:sp>
      <p:sp>
        <p:nvSpPr>
          <p:cNvPr id="5" name="adv-title">
            <a:extLst xmlns:a="http://schemas.openxmlformats.org/drawingml/2006/main">
              <a:ext uri="{FF2B5EF4-FFF2-40B4-BE49-F238E27FC236}">
                <a16:creationId xmlns:a16="http://schemas.microsoft.com/office/drawing/2014/main" id="{4B0E9D72-E1B9-4B36-8B60-EA088FAC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5276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6A73"/>
                </a:solidFill>
              </a:defRPr>
            </a:pPr>
            <a:r>
              <a:rPr sz="3300" b="1">
                <a:solidFill>
                  <a:srgbClr val="246A73"/>
                </a:solidFill>
              </a:rPr>
              <a:t>Advantages</a:t>
            </a:r>
          </a:p>
        </p:txBody>
      </p:sp>
      <p:sp>
        <p:nvSpPr>
          <p:cNvPr id="6" name="bullet-mark">
            <a:extLst xmlns:a="http://schemas.openxmlformats.org/drawingml/2006/main">
              <a:ext uri="{FF2B5EF4-FFF2-40B4-BE49-F238E27FC236}">
                <a16:creationId xmlns:a16="http://schemas.microsoft.com/office/drawing/2014/main" id="{83DAA07C-7F33-4519-A185-C6FF3FDD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73"/>
          </a:solidFill>
        </p:spPr>
      </p:sp>
      <p:sp>
        <p:nvSpPr>
          <p:cNvPr id="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04952616-092C-4C25-82A2-FB1029DC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few parameters</a:t>
            </a:r>
          </a:p>
        </p:txBody>
      </p:sp>
      <p:sp>
        <p:nvSpPr>
          <p:cNvPr id="8" name="bullet-mark">
            <a:extLst xmlns:a="http://schemas.openxmlformats.org/drawingml/2006/main">
              <a:ext uri="{FF2B5EF4-FFF2-40B4-BE49-F238E27FC236}">
                <a16:creationId xmlns:a16="http://schemas.microsoft.com/office/drawing/2014/main" id="{1AD5E43B-829F-4342-AE4F-F9F4E3FC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73"/>
          </a:solidFill>
        </p:spPr>
      </p:sp>
      <p:sp>
        <p:nvSpPr>
          <p:cNvPr id="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B570FA91-EA64-4D95-8B50-D2C1E672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strong global jumps</a:t>
            </a:r>
          </a:p>
        </p:txBody>
      </p:sp>
      <p:sp>
        <p:nvSpPr>
          <p:cNvPr id="10" name="bullet-mark">
            <a:extLst xmlns:a="http://schemas.openxmlformats.org/drawingml/2006/main">
              <a:ext uri="{FF2B5EF4-FFF2-40B4-BE49-F238E27FC236}">
                <a16:creationId xmlns:a16="http://schemas.microsoft.com/office/drawing/2014/main" id="{862207E9-E22F-4238-911E-2DC49833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73"/>
          </a:solidFill>
        </p:spPr>
      </p:sp>
      <p:sp>
        <p:nvSpPr>
          <p:cNvPr id="1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3079855C-2883-40E4-9931-99AD7F10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easy continuous encoding</a:t>
            </a:r>
          </a:p>
        </p:txBody>
      </p:sp>
      <p:sp>
        <p:nvSpPr>
          <p:cNvPr id="12" name="lim-title">
            <a:extLst xmlns:a="http://schemas.openxmlformats.org/drawingml/2006/main">
              <a:ext uri="{FF2B5EF4-FFF2-40B4-BE49-F238E27FC236}">
                <a16:creationId xmlns:a16="http://schemas.microsoft.com/office/drawing/2014/main" id="{CAAE4E6D-ECE2-4ADA-AB52-4EE3B222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5276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5532F"/>
                </a:solidFill>
              </a:defRPr>
            </a:pPr>
            <a:r>
              <a:rPr sz="3300" b="1">
                <a:solidFill>
                  <a:srgbClr val="B5532F"/>
                </a:solidFill>
              </a:rPr>
              <a:t>Limits</a:t>
            </a:r>
          </a:p>
        </p:txBody>
      </p:sp>
      <p:sp>
        <p:nvSpPr>
          <p:cNvPr id="13" name="bullet-mark">
            <a:extLst xmlns:a="http://schemas.openxmlformats.org/drawingml/2006/main">
              <a:ext uri="{FF2B5EF4-FFF2-40B4-BE49-F238E27FC236}">
                <a16:creationId xmlns:a16="http://schemas.microsoft.com/office/drawing/2014/main" id="{30B3B424-EEBB-466F-B59D-1358CA25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532F"/>
          </a:solidFill>
        </p:spPr>
      </p:sp>
      <p:sp>
        <p:nvSpPr>
          <p:cNvPr id="14" name="bullet-text">
            <a:extLst xmlns:a="http://schemas.openxmlformats.org/drawingml/2006/main">
              <a:ext uri="{FF2B5EF4-FFF2-40B4-BE49-F238E27FC236}">
                <a16:creationId xmlns:a16="http://schemas.microsoft.com/office/drawing/2014/main" id="{1482A36C-4C8E-4CAD-9421-D2B2E38F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sensitive to alpha and pa</a:t>
            </a:r>
          </a:p>
        </p:txBody>
      </p:sp>
      <p:sp>
        <p:nvSpPr>
          <p:cNvPr id="15" name="bullet-mark">
            <a:extLst xmlns:a="http://schemas.openxmlformats.org/drawingml/2006/main">
              <a:ext uri="{FF2B5EF4-FFF2-40B4-BE49-F238E27FC236}">
                <a16:creationId xmlns:a16="http://schemas.microsoft.com/office/drawing/2014/main" id="{9078D168-7A51-46E9-8899-880597E5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24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532F"/>
          </a:solidFill>
        </p:spPr>
      </p:sp>
      <p:sp>
        <p:nvSpPr>
          <p:cNvPr id="1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F0D6E1FE-E683-4211-AB14-374713F1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290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no guarantee of global optimum</a:t>
            </a:r>
          </a:p>
        </p:txBody>
      </p:sp>
      <p:sp>
        <p:nvSpPr>
          <p:cNvPr id="17" name="bullet-mark">
            <a:extLst xmlns:a="http://schemas.openxmlformats.org/drawingml/2006/main">
              <a:ext uri="{FF2B5EF4-FFF2-40B4-BE49-F238E27FC236}">
                <a16:creationId xmlns:a16="http://schemas.microsoft.com/office/drawing/2014/main" id="{F03E9F23-8E32-410A-83CB-7C9AF8EA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38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532F"/>
          </a:solidFill>
        </p:spPr>
      </p:sp>
      <p:sp>
        <p:nvSpPr>
          <p:cNvPr id="1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733A2CBA-368B-4E1F-A75F-36798595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34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discrete problems need redesign</a:t>
            </a:r>
          </a:p>
        </p:txBody>
      </p:sp>
      <p:sp>
        <p:nvSpPr>
          <p:cNvPr id="19" name="ext-title">
            <a:extLst xmlns:a="http://schemas.openxmlformats.org/drawingml/2006/main">
              <a:ext uri="{FF2B5EF4-FFF2-40B4-BE49-F238E27FC236}">
                <a16:creationId xmlns:a16="http://schemas.microsoft.com/office/drawing/2014/main" id="{388F952F-6757-4E9B-AA90-DAF25FBA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667000"/>
            <a:ext cx="5276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6B5CA5"/>
                </a:solidFill>
              </a:defRPr>
            </a:pPr>
            <a:r>
              <a:rPr sz="3300" b="1">
                <a:solidFill>
                  <a:srgbClr val="6B5CA5"/>
                </a:solidFill>
              </a:rPr>
              <a:t>Extensions</a:t>
            </a:r>
          </a:p>
        </p:txBody>
      </p:sp>
      <p:sp>
        <p:nvSpPr>
          <p:cNvPr id="20" name="bullet-mark">
            <a:extLst xmlns:a="http://schemas.openxmlformats.org/drawingml/2006/main">
              <a:ext uri="{FF2B5EF4-FFF2-40B4-BE49-F238E27FC236}">
                <a16:creationId xmlns:a16="http://schemas.microsoft.com/office/drawing/2014/main" id="{FEB18729-9195-4C01-9885-63E935E5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5CA5"/>
          </a:solidFill>
        </p:spPr>
      </p:sp>
      <p:sp>
        <p:nvSpPr>
          <p:cNvPr id="2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77B352E5-EF28-4E6B-B466-B417EC2B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3337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adaptive step size</a:t>
            </a:r>
          </a:p>
        </p:txBody>
      </p:sp>
      <p:sp>
        <p:nvSpPr>
          <p:cNvPr id="22" name="bullet-mark">
            <a:extLst xmlns:a="http://schemas.openxmlformats.org/drawingml/2006/main">
              <a:ext uri="{FF2B5EF4-FFF2-40B4-BE49-F238E27FC236}">
                <a16:creationId xmlns:a16="http://schemas.microsoft.com/office/drawing/2014/main" id="{5E71E776-34BA-449A-AD2D-A152EB3F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924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5CA5"/>
          </a:solidFill>
        </p:spPr>
      </p:sp>
      <p:sp>
        <p:nvSpPr>
          <p:cNvPr id="23" name="bullet-text">
            <a:extLst xmlns:a="http://schemas.openxmlformats.org/drawingml/2006/main">
              <a:ext uri="{FF2B5EF4-FFF2-40B4-BE49-F238E27FC236}">
                <a16:creationId xmlns:a16="http://schemas.microsoft.com/office/drawing/2014/main" id="{BA554381-FF9F-40C3-98A6-9C12D1A7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8290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hybrid local search</a:t>
            </a:r>
          </a:p>
        </p:txBody>
      </p:sp>
      <p:sp>
        <p:nvSpPr>
          <p:cNvPr id="24" name="bullet-mark">
            <a:extLst xmlns:a="http://schemas.openxmlformats.org/drawingml/2006/main">
              <a:ext uri="{FF2B5EF4-FFF2-40B4-BE49-F238E27FC236}">
                <a16:creationId xmlns:a16="http://schemas.microsoft.com/office/drawing/2014/main" id="{DC7A1011-677C-42D2-A9B8-A95F93FF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438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5CA5"/>
          </a:solidFill>
        </p:spPr>
      </p:sp>
      <p:sp>
        <p:nvSpPr>
          <p:cNvPr id="25" name="bullet-text">
            <a:extLst xmlns:a="http://schemas.openxmlformats.org/drawingml/2006/main">
              <a:ext uri="{FF2B5EF4-FFF2-40B4-BE49-F238E27FC236}">
                <a16:creationId xmlns:a16="http://schemas.microsoft.com/office/drawing/2014/main" id="{6FA258F2-907B-40BA-AAA1-7E898322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3434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F2933"/>
                </a:solidFill>
              </a:defRPr>
            </a:pPr>
            <a:r>
              <a:rPr sz="2175">
                <a:solidFill>
                  <a:srgbClr val="1F2933"/>
                </a:solidFill>
              </a:rPr>
              <a:t>multi-objective CS</a:t>
            </a:r>
          </a:p>
        </p:txBody>
      </p:sp>
      <p:sp>
        <p:nvSpPr>
          <p:cNvPr id="2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0EC81D4-CDD6-4749-80E1-C58EED96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0595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Yang &amp; Deb, Cuckoo Search via Levy Flights, NaBIC 2009</a:t>
            </a:r>
          </a:p>
        </p:txBody>
      </p:sp>
    </p:spTree>
    <p:extLst>
      <p:ext uri="{BB962C8B-B14F-4D97-AF65-F5344CB8AC3E}">
        <p14:creationId xmlns:p14="http://schemas.microsoft.com/office/powerpoint/2010/main" val="16812925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F83404A-C665-4B07-BA4B-318C572E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</p:spPr>
      </p:sp>
      <p:sp>
        <p:nvSpPr>
          <p:cNvPr id="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BC65F509-11F9-44BB-A767-9EAC86AC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solidFill>
              <a:srgbClr val="D19A3A"/>
            </a:solidFill>
            <a:prstDash val="solid"/>
          </a:ln>
        </p:spPr>
      </p:sp>
      <p:sp>
        <p:nvSpPr>
          <p:cNvPr id="3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3A4ACE45-72CF-4AD8-8C15-37B10047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6A73"/>
                </a:solidFill>
              </a:defRPr>
            </a:pPr>
            <a:r>
              <a:rPr sz="1800" b="1">
                <a:solidFill>
                  <a:srgbClr val="246A73"/>
                </a:solidFill>
              </a:rPr>
              <a:t>Main takeaway</a:t>
            </a:r>
          </a:p>
        </p:txBody>
      </p:sp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69B524D-20C6-4109-BA85-D62F795F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1868150" cy="2343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F2933"/>
                </a:solidFill>
              </a:defRPr>
            </a:pPr>
            <a:r>
              <a:rPr sz="5100" b="1">
                <a:solidFill>
                  <a:srgbClr val="1F2933"/>
                </a:solidFill>
              </a:rPr>
              <a:t>Cuckoo Search is a compact global optimizer that gets its strength from elitism plus heavy-tailed exploration.</a:t>
            </a:r>
          </a:p>
        </p:txBody>
      </p:sp>
      <p:sp>
        <p:nvSpPr>
          <p:cNvPr id="5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879AA651-331C-4913-9036-DF441DAF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72200"/>
            <a:ext cx="10820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F6368"/>
                </a:solidFill>
              </a:defRPr>
            </a:pPr>
            <a:r>
              <a:rPr sz="2250">
                <a:solidFill>
                  <a:srgbClr val="5F6368"/>
                </a:solidFill>
              </a:rPr>
              <a:t>Best use in this demo: continuous multimodal search where occasional long jumps are useful, but parameter tuning still matters.</a:t>
            </a:r>
          </a:p>
        </p:txBody>
      </p:sp>
      <p:sp>
        <p:nvSpPr>
          <p:cNvPr id="6" name="questions">
            <a:extLst xmlns:a="http://schemas.openxmlformats.org/drawingml/2006/main">
              <a:ext uri="{FF2B5EF4-FFF2-40B4-BE49-F238E27FC236}">
                <a16:creationId xmlns:a16="http://schemas.microsoft.com/office/drawing/2014/main" id="{96956012-217E-4455-94F5-666BA374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0090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B5532F"/>
                </a:solidFill>
              </a:defRPr>
            </a:pPr>
            <a:r>
              <a:rPr sz="4050" b="1">
                <a:solidFill>
                  <a:srgbClr val="B5532F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953066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2026-05-03T18:59:35.4250000Z</dcterms:created>
  <dcterms:modified xsi:type="dcterms:W3CDTF">2026-05-03T18:59:35.4250000Z</dcterms:modified>
</coreProperties>
</file>