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26a75904354fca" /><Relationship Type="http://schemas.openxmlformats.org/officeDocument/2006/relationships/extended-properties" Target="/docProps/app.xml" Id="R8bd7c8f7c4f74e45" /><Relationship Type="http://schemas.openxmlformats.org/officeDocument/2006/relationships/officeDocument" Target="/ppt/presentation.xml" Id="Rbcf0b63c8b4f4a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e61ff1cc8c4b76"/>
  </p:sldMasterIdLst>
  <p:notesMasterIdLst>
    <p:notesMasterId xmlns:r="http://schemas.openxmlformats.org/officeDocument/2006/relationships" r:id="R732721b5d656426f"/>
  </p:notesMasterIdLst>
  <p:sldIdLst>
    <p:sldId xmlns:r="http://schemas.openxmlformats.org/officeDocument/2006/relationships" id="256" r:id="Rfa766d7a73004e19"/>
    <p:sldId xmlns:r="http://schemas.openxmlformats.org/officeDocument/2006/relationships" id="257" r:id="Rbb486551fb364d76"/>
    <p:sldId xmlns:r="http://schemas.openxmlformats.org/officeDocument/2006/relationships" id="258" r:id="R63c52fdf980c477f"/>
    <p:sldId xmlns:r="http://schemas.openxmlformats.org/officeDocument/2006/relationships" id="259" r:id="R525d3db30c53485c"/>
    <p:sldId xmlns:r="http://schemas.openxmlformats.org/officeDocument/2006/relationships" id="260" r:id="Re419ee07524c4957"/>
    <p:sldId xmlns:r="http://schemas.openxmlformats.org/officeDocument/2006/relationships" id="261" r:id="R27274489f242403d"/>
    <p:sldId xmlns:r="http://schemas.openxmlformats.org/officeDocument/2006/relationships" id="262" r:id="Rfa5b7705b3a4496d"/>
    <p:sldId xmlns:r="http://schemas.openxmlformats.org/officeDocument/2006/relationships" id="263" r:id="R61110f358d2b4493"/>
    <p:sldId xmlns:r="http://schemas.openxmlformats.org/officeDocument/2006/relationships" id="264" r:id="R8905eb45c7a44d44"/>
    <p:sldId xmlns:r="http://schemas.openxmlformats.org/officeDocument/2006/relationships" id="265" r:id="R3d76acffe1554069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e61ff1cc8c4b76" /><Relationship Type="http://schemas.openxmlformats.org/officeDocument/2006/relationships/theme" Target="/ppt/theme/theme1.xml" Id="Rf014a105b0ff4dd4" /><Relationship Type="http://schemas.openxmlformats.org/officeDocument/2006/relationships/notesMaster" Target="/ppt/notesMasters/notesMaster1.xml" Id="R732721b5d656426f" /><Relationship Type="http://schemas.openxmlformats.org/officeDocument/2006/relationships/presProps" Target="/ppt/presProps.xml" Id="R7fe29c74c87e4910" /><Relationship Type="http://schemas.openxmlformats.org/officeDocument/2006/relationships/viewProps" Target="/ppt/viewProps.xml" Id="Re64fe17b25e94beb" /><Relationship Type="http://schemas.openxmlformats.org/officeDocument/2006/relationships/tableStyles" Target="/ppt/tableStyles.xml" Id="R1773df3c49ce4a37" /><Relationship Type="http://schemas.openxmlformats.org/officeDocument/2006/relationships/slide" Target="/ppt/slides/slide1.xml" Id="Rfa766d7a73004e19" /><Relationship Type="http://schemas.openxmlformats.org/officeDocument/2006/relationships/slide" Target="/ppt/slides/slide2.xml" Id="Rbb486551fb364d76" /><Relationship Type="http://schemas.openxmlformats.org/officeDocument/2006/relationships/slide" Target="/ppt/slides/slide3.xml" Id="R63c52fdf980c477f" /><Relationship Type="http://schemas.openxmlformats.org/officeDocument/2006/relationships/slide" Target="/ppt/slides/slide4.xml" Id="R525d3db30c53485c" /><Relationship Type="http://schemas.openxmlformats.org/officeDocument/2006/relationships/slide" Target="/ppt/slides/slide5.xml" Id="Re419ee07524c4957" /><Relationship Type="http://schemas.openxmlformats.org/officeDocument/2006/relationships/slide" Target="/ppt/slides/slide6.xml" Id="R27274489f242403d" /><Relationship Type="http://schemas.openxmlformats.org/officeDocument/2006/relationships/slide" Target="/ppt/slides/slide7.xml" Id="Rfa5b7705b3a4496d" /><Relationship Type="http://schemas.openxmlformats.org/officeDocument/2006/relationships/slide" Target="/ppt/slides/slide8.xml" Id="R61110f358d2b4493" /><Relationship Type="http://schemas.openxmlformats.org/officeDocument/2006/relationships/slide" Target="/ppt/slides/slide9.xml" Id="R8905eb45c7a44d44" /><Relationship Type="http://schemas.openxmlformats.org/officeDocument/2006/relationships/slide" Target="/ppt/slides/slide10.xml" Id="R3d76acffe15540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8fa91908b9a48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a8c578a7224308" /><Relationship Type="http://schemas.openxmlformats.org/officeDocument/2006/relationships/notesMaster" Target="/ppt/notesMasters/notesMaster1.xml" Id="Ra3775a9ac0f34b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ba025a87fe4d7c" /><Relationship Type="http://schemas.openxmlformats.org/officeDocument/2006/relationships/notesMaster" Target="/ppt/notesMasters/notesMaster1.xml" Id="Rdb7e8fe3cf4543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89adec9442478e" /><Relationship Type="http://schemas.openxmlformats.org/officeDocument/2006/relationships/notesMaster" Target="/ppt/notesMasters/notesMaster1.xml" Id="R8c48790e39414d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80fed7a9e6485d" /><Relationship Type="http://schemas.openxmlformats.org/officeDocument/2006/relationships/notesMaster" Target="/ppt/notesMasters/notesMaster1.xml" Id="Rd1e96b1ac3b44d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1b10ab1ac34308" /><Relationship Type="http://schemas.openxmlformats.org/officeDocument/2006/relationships/notesMaster" Target="/ppt/notesMasters/notesMaster1.xml" Id="Rea73534a22b641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4f0b7101cc4c41" /><Relationship Type="http://schemas.openxmlformats.org/officeDocument/2006/relationships/notesMaster" Target="/ppt/notesMasters/notesMaster1.xml" Id="Rc4814658cea547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a5aca2b2e046fe" /><Relationship Type="http://schemas.openxmlformats.org/officeDocument/2006/relationships/notesMaster" Target="/ppt/notesMasters/notesMaster1.xml" Id="Re3771b157a0e4d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063a76910842b1" /><Relationship Type="http://schemas.openxmlformats.org/officeDocument/2006/relationships/notesMaster" Target="/ppt/notesMasters/notesMaster1.xml" Id="Rc73620ba10314fe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e84ac85e3444c4" /><Relationship Type="http://schemas.openxmlformats.org/officeDocument/2006/relationships/notesMaster" Target="/ppt/notesMasters/notesMaster1.xml" Id="R57c54108880643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fdbb7c80534ef9" /><Relationship Type="http://schemas.openxmlformats.org/officeDocument/2006/relationships/notesMaster" Target="/ppt/notesMasters/notesMaster1.xml" Id="R1452a987cf744a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560d25cc84ed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192b0fb1362470c" /><Relationship Type="http://schemas.openxmlformats.org/officeDocument/2006/relationships/slideLayout" Target="/ppt/slideLayouts/slideLayout2.xml" Id="Re5da603d1a454d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da603d1a454d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c094161f0b48b6" /><Relationship Type="http://schemas.openxmlformats.org/officeDocument/2006/relationships/notesSlide" Target="/ppt/notesSlides/notesSlide1.xml" Id="R45c8aeee01fb4b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dd89ff3ebc4e0a" /><Relationship Type="http://schemas.openxmlformats.org/officeDocument/2006/relationships/notesSlide" Target="/ppt/notesSlides/notesSlide2.xml" Id="R45ce3dfe13054b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aa28e896784d5f" /><Relationship Type="http://schemas.openxmlformats.org/officeDocument/2006/relationships/notesSlide" Target="/ppt/notesSlides/notesSlide3.xml" Id="Raf4ba331623841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4e573fbffe4cf5" /><Relationship Type="http://schemas.openxmlformats.org/officeDocument/2006/relationships/notesSlide" Target="/ppt/notesSlides/notesSlide4.xml" Id="R0aa4a534890e47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2836f4d6914f7b" /><Relationship Type="http://schemas.openxmlformats.org/officeDocument/2006/relationships/notesSlide" Target="/ppt/notesSlides/notesSlide5.xml" Id="R69ff13b26a4b41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56e75592c94de5" /><Relationship Type="http://schemas.openxmlformats.org/officeDocument/2006/relationships/notesSlide" Target="/ppt/notesSlides/notesSlide6.xml" Id="Rad84e6800d2e4e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3bca8f23494f47" /><Relationship Type="http://schemas.openxmlformats.org/officeDocument/2006/relationships/notesSlide" Target="/ppt/notesSlides/notesSlide7.xml" Id="R165a6a32f09a47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3df3eb74904f40" /><Relationship Type="http://schemas.openxmlformats.org/officeDocument/2006/relationships/image" Target="/ppt/media/image.png" Id="R9e6970de8c4243fe" /><Relationship Type="http://schemas.openxmlformats.org/officeDocument/2006/relationships/notesSlide" Target="/ppt/notesSlides/notesSlide8.xml" Id="R68d88823e2a14d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9b08f7e3674693" /><Relationship Type="http://schemas.openxmlformats.org/officeDocument/2006/relationships/notesSlide" Target="/ppt/notesSlides/notesSlide9.xml" Id="R4a4dd03cd15041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6917d331014aa0" /><Relationship Type="http://schemas.openxmlformats.org/officeDocument/2006/relationships/notesSlide" Target="/ppt/notesSlides/notesSlide10.xml" Id="R631f5068de62479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7877F1DA-1129-4012-900A-F8CC6B6A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</p:spPr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650AF989-1021-453D-BFEA-8721A930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43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9A3A"/>
          </a:solidFill>
          <a:ln xmlns:a="http://schemas.openxmlformats.org/drawingml/2006/main" w="0">
            <a:solidFill>
              <a:srgbClr val="D19A3A"/>
            </a:solidFill>
            <a:prstDash val="solid"/>
          </a:ln>
        </p:spPr>
      </p:sp>
      <p:sp>
        <p:nvSpPr>
          <p:cNvPr id="3" name="cover-title-1">
            <a:extLst xmlns:a="http://schemas.openxmlformats.org/drawingml/2006/main">
              <a:ext uri="{FF2B5EF4-FFF2-40B4-BE49-F238E27FC236}">
                <a16:creationId xmlns:a16="http://schemas.microsoft.com/office/drawing/2014/main" id="{2E9CAA4A-E935-4581-A8FD-B421D02C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6743700" cy="27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850" b="1">
                <a:solidFill>
                  <a:srgbClr val="FFFFFF"/>
                </a:solidFill>
              </a:defRPr>
            </a:pPr>
            <a:r>
              <a:rPr sz="8850" b="1">
                <a:solidFill>
                  <a:srgbClr val="FFFFFF"/>
                </a:solidFill>
              </a:rPr>
              <a:t>Cuckoo Search</a:t>
            </a:r>
          </a:p>
        </p:txBody>
      </p:sp>
      <p:sp>
        <p:nvSpPr>
          <p:cNvPr id="4" name="cover-title-2">
            <a:extLst xmlns:a="http://schemas.openxmlformats.org/drawingml/2006/main">
              <a:ext uri="{FF2B5EF4-FFF2-40B4-BE49-F238E27FC236}">
                <a16:creationId xmlns:a16="http://schemas.microsoft.com/office/drawing/2014/main" id="{6A88ED0F-77AE-41A4-8D51-5D84F3C9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29300"/>
            <a:ext cx="4286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0D9A7"/>
                </a:solidFill>
              </a:defRPr>
            </a:pPr>
            <a:r>
              <a:rPr sz="5400" b="1">
                <a:solidFill>
                  <a:srgbClr val="F0D9A7"/>
                </a:solidFill>
              </a:rPr>
              <a:t>via Levy Flights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B7198D5-260C-401A-B465-B459510D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10400"/>
            <a:ext cx="7658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6E3E0"/>
                </a:solidFill>
              </a:defRPr>
            </a:pPr>
            <a:r>
              <a:rPr sz="2250">
                <a:solidFill>
                  <a:srgbClr val="D6E3E0"/>
                </a:solidFill>
              </a:rPr>
              <a:t>Final metaheuristics presentation | continuous optimization demo</a:t>
            </a:r>
          </a:p>
        </p:txBody>
      </p:sp>
      <p:sp>
        <p:nvSpPr>
          <p:cNvPr id="6" name="cover-source">
            <a:extLst xmlns:a="http://schemas.openxmlformats.org/drawingml/2006/main">
              <a:ext uri="{FF2B5EF4-FFF2-40B4-BE49-F238E27FC236}">
                <a16:creationId xmlns:a16="http://schemas.microsoft.com/office/drawing/2014/main" id="{ADBB9971-A6E0-4CE0-B3FF-BFA929DF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15250"/>
            <a:ext cx="16649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FC3BE"/>
                </a:solidFill>
              </a:defRPr>
            </a:pPr>
            <a:r>
              <a:rPr sz="1500">
                <a:solidFill>
                  <a:srgbClr val="AFC3BE"/>
                </a:solidFill>
              </a:rPr>
              <a:t>Reference: Yang &amp; Deb, NaBIC 2009</a:t>
            </a:r>
          </a:p>
        </p:txBody>
      </p:sp>
    </p:spTree>
    <p:extLst>
      <p:ext uri="{BB962C8B-B14F-4D97-AF65-F5344CB8AC3E}">
        <p14:creationId xmlns:p14="http://schemas.microsoft.com/office/powerpoint/2010/main" val="11000580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DDEFB783-EEE7-476D-A6DD-FE2EDCAD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887184D7-6755-4499-9D08-4C8F070C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6A73"/>
                </a:solidFill>
              </a:defRPr>
            </a:pPr>
            <a:r>
              <a:rPr sz="1275" b="1">
                <a:solidFill>
                  <a:srgbClr val="246A73"/>
                </a:solidFill>
              </a:rPr>
              <a:t>MOTIVATION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E7D942-FF29-443C-A085-491925A9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3450"/>
            <a:ext cx="166497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F2933"/>
                </a:solidFill>
              </a:defRPr>
            </a:pPr>
            <a:r>
              <a:rPr sz="4650" b="1">
                <a:solidFill>
                  <a:srgbClr val="1F2933"/>
                </a:solidFill>
              </a:rPr>
              <a:t>A population search with rare long jumps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9BE886D-39A5-44A8-981F-3DB9D49F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10648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F6368"/>
                </a:solidFill>
              </a:defRPr>
            </a:pPr>
            <a:r>
              <a:rPr sz="2025">
                <a:solidFill>
                  <a:srgbClr val="5F6368"/>
                </a:solidFill>
              </a:rPr>
              <a:t>CS keeps good nests, perturbs them with Levy flights, and periodically replaces discovered weak nests.</a:t>
            </a:r>
          </a:p>
        </p:txBody>
      </p:sp>
      <p:sp>
        <p:nvSpPr>
          <p:cNvPr id="5" name="force-title-1">
            <a:extLst xmlns:a="http://schemas.openxmlformats.org/drawingml/2006/main">
              <a:ext uri="{FF2B5EF4-FFF2-40B4-BE49-F238E27FC236}">
                <a16:creationId xmlns:a16="http://schemas.microsoft.com/office/drawing/2014/main" id="{69AB194B-CE8F-44DB-9920-5AA51EF1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80581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246A73"/>
                </a:solidFill>
              </a:defRPr>
            </a:pPr>
            <a:r>
              <a:rPr sz="4350" b="1">
                <a:solidFill>
                  <a:srgbClr val="246A73"/>
                </a:solidFill>
              </a:rPr>
              <a:t>Intensification</a:t>
            </a:r>
          </a:p>
        </p:txBody>
      </p:sp>
      <p:sp>
        <p:nvSpPr>
          <p:cNvPr id="6" name="bullet-mark">
            <a:extLst xmlns:a="http://schemas.openxmlformats.org/drawingml/2006/main">
              <a:ext uri="{FF2B5EF4-FFF2-40B4-BE49-F238E27FC236}">
                <a16:creationId xmlns:a16="http://schemas.microsoft.com/office/drawing/2014/main" id="{5B5A6CE5-E569-4928-A19D-B4AD294D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86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A73"/>
          </a:solidFill>
        </p:spPr>
      </p:sp>
      <p:sp>
        <p:nvSpPr>
          <p:cNvPr id="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5BAAA56B-00A9-43E2-8B13-9AC9C709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91200"/>
            <a:ext cx="7734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Best nests are preserved across iterations.</a:t>
            </a:r>
          </a:p>
        </p:txBody>
      </p:sp>
      <p:sp>
        <p:nvSpPr>
          <p:cNvPr id="8" name="bullet-mark">
            <a:extLst xmlns:a="http://schemas.openxmlformats.org/drawingml/2006/main">
              <a:ext uri="{FF2B5EF4-FFF2-40B4-BE49-F238E27FC236}">
                <a16:creationId xmlns:a16="http://schemas.microsoft.com/office/drawing/2014/main" id="{72236C5E-4F79-45A6-BFC0-9BB8C8F4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0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A73"/>
          </a:solidFill>
        </p:spPr>
      </p:sp>
      <p:sp>
        <p:nvSpPr>
          <p:cNvPr id="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6C550BDC-743C-409A-95E3-8418F4F2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305550"/>
            <a:ext cx="7734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Steps shrink naturally when nests approach the best solution.</a:t>
            </a:r>
          </a:p>
        </p:txBody>
      </p:sp>
      <p:sp>
        <p:nvSpPr>
          <p:cNvPr id="10" name="force-title-2">
            <a:extLst xmlns:a="http://schemas.openxmlformats.org/drawingml/2006/main">
              <a:ext uri="{FF2B5EF4-FFF2-40B4-BE49-F238E27FC236}">
                <a16:creationId xmlns:a16="http://schemas.microsoft.com/office/drawing/2014/main" id="{C186CCAA-0687-4E28-82B8-53411F41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933950"/>
            <a:ext cx="80581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B5532F"/>
                </a:solidFill>
              </a:defRPr>
            </a:pPr>
            <a:r>
              <a:rPr sz="4350" b="1">
                <a:solidFill>
                  <a:srgbClr val="B5532F"/>
                </a:solidFill>
              </a:rPr>
              <a:t>Diversification</a:t>
            </a:r>
          </a:p>
        </p:txBody>
      </p:sp>
      <p:sp>
        <p:nvSpPr>
          <p:cNvPr id="11" name="bullet-mark">
            <a:extLst xmlns:a="http://schemas.openxmlformats.org/drawingml/2006/main">
              <a:ext uri="{FF2B5EF4-FFF2-40B4-BE49-F238E27FC236}">
                <a16:creationId xmlns:a16="http://schemas.microsoft.com/office/drawing/2014/main" id="{8415CEAB-C1E9-40B4-9448-E773B6CF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886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532F"/>
          </a:solidFill>
        </p:spPr>
      </p:sp>
      <p:sp>
        <p:nvSpPr>
          <p:cNvPr id="12" name="bullet-text">
            <a:extLst xmlns:a="http://schemas.openxmlformats.org/drawingml/2006/main">
              <a:ext uri="{FF2B5EF4-FFF2-40B4-BE49-F238E27FC236}">
                <a16:creationId xmlns:a16="http://schemas.microsoft.com/office/drawing/2014/main" id="{F802C9B5-1274-4EE0-BA1A-23876781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791200"/>
            <a:ext cx="7734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Levy flights sometimes make very large moves.</a:t>
            </a:r>
          </a:p>
        </p:txBody>
      </p:sp>
      <p:sp>
        <p:nvSpPr>
          <p:cNvPr id="13" name="bullet-mark">
            <a:extLst xmlns:a="http://schemas.openxmlformats.org/drawingml/2006/main">
              <a:ext uri="{FF2B5EF4-FFF2-40B4-BE49-F238E27FC236}">
                <a16:creationId xmlns:a16="http://schemas.microsoft.com/office/drawing/2014/main" id="{C2100D44-500D-434A-84FB-F81D023D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400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532F"/>
          </a:solidFill>
        </p:spPr>
      </p:sp>
      <p:sp>
        <p:nvSpPr>
          <p:cNvPr id="14" name="bullet-text">
            <a:extLst xmlns:a="http://schemas.openxmlformats.org/drawingml/2006/main">
              <a:ext uri="{FF2B5EF4-FFF2-40B4-BE49-F238E27FC236}">
                <a16:creationId xmlns:a16="http://schemas.microsoft.com/office/drawing/2014/main" id="{B438E3C0-AB76-490A-BB91-21B19E1C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6305550"/>
            <a:ext cx="7734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Discovery probability replaces weak nests.</a:t>
            </a:r>
          </a:p>
        </p:txBody>
      </p:sp>
      <p:sp>
        <p:nvSpPr>
          <p:cNvPr id="1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97A124DE-C7CD-41A6-8559-70239EE8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0595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Yang &amp; Deb, Cuckoo Search via Levy Flights, NaBIC 2009</a:t>
            </a:r>
          </a:p>
        </p:txBody>
      </p:sp>
    </p:spTree>
    <p:extLst>
      <p:ext uri="{BB962C8B-B14F-4D97-AF65-F5344CB8AC3E}">
        <p14:creationId xmlns:p14="http://schemas.microsoft.com/office/powerpoint/2010/main" val="69549964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C8FCBADE-E3ED-4150-A493-951458C5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1EDD0968-09E2-43C9-906D-A2BDE657C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6A73"/>
                </a:solidFill>
              </a:defRPr>
            </a:pPr>
            <a:r>
              <a:rPr sz="1275" b="1">
                <a:solidFill>
                  <a:srgbClr val="246A73"/>
                </a:solidFill>
              </a:rPr>
              <a:t>DEFINITION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5F09BE-E33B-475B-A422-5D24978E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3450"/>
            <a:ext cx="166497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F2933"/>
                </a:solidFill>
              </a:defRPr>
            </a:pPr>
            <a:r>
              <a:rPr sz="4650" b="1">
                <a:solidFill>
                  <a:srgbClr val="1F2933"/>
                </a:solidFill>
              </a:rPr>
              <a:t>From metaphor to optimization objects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F666AAE-6715-48E5-812A-F6CF20EF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1196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F6368"/>
                </a:solidFill>
              </a:defRPr>
            </a:pPr>
            <a:r>
              <a:rPr sz="2025">
                <a:solidFill>
                  <a:srgbClr val="5F6368"/>
                </a:solidFill>
              </a:rPr>
              <a:t>The biological story is only a design analogy. In code, everything becomes candidate solutions and objective values.</a:t>
            </a:r>
          </a:p>
        </p:txBody>
      </p:sp>
      <p:sp>
        <p:nvSpPr>
          <p:cNvPr id="5" name="h1">
            <a:extLst xmlns:a="http://schemas.openxmlformats.org/drawingml/2006/main">
              <a:ext uri="{FF2B5EF4-FFF2-40B4-BE49-F238E27FC236}">
                <a16:creationId xmlns:a16="http://schemas.microsoft.com/office/drawing/2014/main" id="{6BC98CBA-222C-4705-B0DE-05CE1FB2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37909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6A73"/>
                </a:solidFill>
              </a:defRPr>
            </a:pPr>
            <a:r>
              <a:rPr sz="2175" b="1">
                <a:solidFill>
                  <a:srgbClr val="246A73"/>
                </a:solidFill>
              </a:rPr>
              <a:t>Paper rule</a:t>
            </a:r>
          </a:p>
        </p:txBody>
      </p:sp>
      <p:sp>
        <p:nvSpPr>
          <p:cNvPr id="6" name="h2">
            <a:extLst xmlns:a="http://schemas.openxmlformats.org/drawingml/2006/main">
              <a:ext uri="{FF2B5EF4-FFF2-40B4-BE49-F238E27FC236}">
                <a16:creationId xmlns:a16="http://schemas.microsoft.com/office/drawing/2014/main" id="{5FB5D7C3-6585-4278-86C7-2E1CB047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81250"/>
            <a:ext cx="61150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6A73"/>
                </a:solidFill>
              </a:defRPr>
            </a:pPr>
            <a:r>
              <a:rPr sz="2175" b="1">
                <a:solidFill>
                  <a:srgbClr val="246A73"/>
                </a:solidFill>
              </a:rPr>
              <a:t>Optimization meaning</a:t>
            </a:r>
          </a:p>
        </p:txBody>
      </p:sp>
      <p:sp>
        <p:nvSpPr>
          <p:cNvPr id="7" name="h3">
            <a:extLst xmlns:a="http://schemas.openxmlformats.org/drawingml/2006/main">
              <a:ext uri="{FF2B5EF4-FFF2-40B4-BE49-F238E27FC236}">
                <a16:creationId xmlns:a16="http://schemas.microsoft.com/office/drawing/2014/main" id="{9912EF92-6D4F-4D3A-B892-5EE6E686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2381250"/>
            <a:ext cx="61150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6A73"/>
                </a:solidFill>
              </a:defRPr>
            </a:pPr>
            <a:r>
              <a:rPr sz="2175" b="1">
                <a:solidFill>
                  <a:srgbClr val="246A73"/>
                </a:solidFill>
              </a:rPr>
              <a:t>What my demo implements</a:t>
            </a:r>
          </a:p>
        </p:txBody>
      </p:sp>
      <p:sp>
        <p:nvSpPr>
          <p:cNvPr id="8" name="r1c1">
            <a:extLst xmlns:a="http://schemas.openxmlformats.org/drawingml/2006/main">
              <a:ext uri="{FF2B5EF4-FFF2-40B4-BE49-F238E27FC236}">
                <a16:creationId xmlns:a16="http://schemas.microsoft.com/office/drawing/2014/main" id="{C5289769-FC54-48A7-8924-F71679EA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37909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One egg</a:t>
            </a:r>
          </a:p>
        </p:txBody>
      </p:sp>
      <p:sp>
        <p:nvSpPr>
          <p:cNvPr id="9" name="r1c2">
            <a:extLst xmlns:a="http://schemas.openxmlformats.org/drawingml/2006/main">
              <a:ext uri="{FF2B5EF4-FFF2-40B4-BE49-F238E27FC236}">
                <a16:creationId xmlns:a16="http://schemas.microsoft.com/office/drawing/2014/main" id="{307422CC-DBCA-416D-869B-DDDD02A9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14800"/>
            <a:ext cx="61150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One new candidate solution</a:t>
            </a:r>
          </a:p>
        </p:txBody>
      </p:sp>
      <p:sp>
        <p:nvSpPr>
          <p:cNvPr id="10" name="r1c3">
            <a:extLst xmlns:a="http://schemas.openxmlformats.org/drawingml/2006/main">
              <a:ext uri="{FF2B5EF4-FFF2-40B4-BE49-F238E27FC236}">
                <a16:creationId xmlns:a16="http://schemas.microsoft.com/office/drawing/2014/main" id="{FCCB16E8-55C0-4553-9736-2504A9CB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114800"/>
            <a:ext cx="61150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Levy-generated vector in 10D</a:t>
            </a:r>
          </a:p>
        </p:txBody>
      </p:sp>
      <p:sp>
        <p:nvSpPr>
          <p:cNvPr id="11" name="r2c1">
            <a:extLst xmlns:a="http://schemas.openxmlformats.org/drawingml/2006/main">
              <a:ext uri="{FF2B5EF4-FFF2-40B4-BE49-F238E27FC236}">
                <a16:creationId xmlns:a16="http://schemas.microsoft.com/office/drawing/2014/main" id="{DF66488D-FAF0-4C6A-8780-6FE4F240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67400"/>
            <a:ext cx="37909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Best nests survive</a:t>
            </a:r>
          </a:p>
        </p:txBody>
      </p:sp>
      <p:sp>
        <p:nvSpPr>
          <p:cNvPr id="12" name="r2c2">
            <a:extLst xmlns:a="http://schemas.openxmlformats.org/drawingml/2006/main">
              <a:ext uri="{FF2B5EF4-FFF2-40B4-BE49-F238E27FC236}">
                <a16:creationId xmlns:a16="http://schemas.microsoft.com/office/drawing/2014/main" id="{C9305429-CFBF-4A96-A463-FFF11B5F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67400"/>
            <a:ext cx="61150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Elitist selection</a:t>
            </a:r>
          </a:p>
        </p:txBody>
      </p:sp>
      <p:sp>
        <p:nvSpPr>
          <p:cNvPr id="13" name="r2c3">
            <a:extLst xmlns:a="http://schemas.openxmlformats.org/drawingml/2006/main">
              <a:ext uri="{FF2B5EF4-FFF2-40B4-BE49-F238E27FC236}">
                <a16:creationId xmlns:a16="http://schemas.microsoft.com/office/drawing/2014/main" id="{D1E8A080-4ADD-4C53-825A-5F6E933D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867400"/>
            <a:ext cx="61150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Global best is copied back if needed</a:t>
            </a:r>
          </a:p>
        </p:txBody>
      </p:sp>
      <p:sp>
        <p:nvSpPr>
          <p:cNvPr id="14" name="r3c1">
            <a:extLst xmlns:a="http://schemas.openxmlformats.org/drawingml/2006/main">
              <a:ext uri="{FF2B5EF4-FFF2-40B4-BE49-F238E27FC236}">
                <a16:creationId xmlns:a16="http://schemas.microsoft.com/office/drawing/2014/main" id="{6BC02299-0A12-4AE8-A683-EE5EDB02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20000"/>
            <a:ext cx="37909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Discovery pa</a:t>
            </a:r>
          </a:p>
        </p:txBody>
      </p:sp>
      <p:sp>
        <p:nvSpPr>
          <p:cNvPr id="15" name="r3c2">
            <a:extLst xmlns:a="http://schemas.openxmlformats.org/drawingml/2006/main">
              <a:ext uri="{FF2B5EF4-FFF2-40B4-BE49-F238E27FC236}">
                <a16:creationId xmlns:a16="http://schemas.microsoft.com/office/drawing/2014/main" id="{8DF4E7FD-159E-4006-BE3D-9250161A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7620000"/>
            <a:ext cx="61150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Abandon weak regions</a:t>
            </a:r>
          </a:p>
        </p:txBody>
      </p:sp>
      <p:sp>
        <p:nvSpPr>
          <p:cNvPr id="16" name="r3c3">
            <a:extLst xmlns:a="http://schemas.openxmlformats.org/drawingml/2006/main">
              <a:ext uri="{FF2B5EF4-FFF2-40B4-BE49-F238E27FC236}">
                <a16:creationId xmlns:a16="http://schemas.microsoft.com/office/drawing/2014/main" id="{EE1E6998-6F6A-4DD7-96F9-CA6DE5C6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7620000"/>
            <a:ext cx="611505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Population random walk replacement</a:t>
            </a:r>
          </a:p>
        </p:txBody>
      </p:sp>
      <p:sp>
        <p:nvSpPr>
          <p:cNvPr id="17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FDB4F90B-3DC5-43DB-B595-088F7BC4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0595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Yang &amp; Deb, Cuckoo Search via Levy Flights, NaBIC 2009</a:t>
            </a:r>
          </a:p>
        </p:txBody>
      </p:sp>
    </p:spTree>
    <p:extLst>
      <p:ext uri="{BB962C8B-B14F-4D97-AF65-F5344CB8AC3E}">
        <p14:creationId xmlns:p14="http://schemas.microsoft.com/office/powerpoint/2010/main" val="4847614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A4355787-5B94-49DE-A6E8-CAF34E3E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6A0D0124-605F-4445-93D4-AD3DAFE0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6A73"/>
                </a:solidFill>
              </a:defRPr>
            </a:pPr>
            <a:r>
              <a:rPr sz="1275" b="1">
                <a:solidFill>
                  <a:srgbClr val="246A73"/>
                </a:solidFill>
              </a:rPr>
              <a:t>ALGORITHM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15D6CA-CCB0-4826-BFD1-B6C307D5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3450"/>
            <a:ext cx="166497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F2933"/>
                </a:solidFill>
              </a:defRPr>
            </a:pPr>
            <a:r>
              <a:rPr sz="4650" b="1">
                <a:solidFill>
                  <a:srgbClr val="1F2933"/>
                </a:solidFill>
              </a:rPr>
              <a:t>The CS loop is short enough to explain live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9745485-98F3-4361-9683-ED711706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83058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F6368"/>
                </a:solidFill>
              </a:defRPr>
            </a:pPr>
            <a:r>
              <a:rPr sz="2025">
                <a:solidFill>
                  <a:srgbClr val="5F6368"/>
                </a:solidFill>
              </a:rPr>
              <a:t>Most implementation complexity is in the Levy sampler and boundary handling.</a:t>
            </a:r>
          </a:p>
        </p:txBody>
      </p:sp>
      <p:sp>
        <p:nvSpPr>
          <p:cNvPr id="5" name="bullet-mark">
            <a:extLst xmlns:a="http://schemas.openxmlformats.org/drawingml/2006/main">
              <a:ext uri="{FF2B5EF4-FFF2-40B4-BE49-F238E27FC236}">
                <a16:creationId xmlns:a16="http://schemas.microsoft.com/office/drawing/2014/main" id="{71BA37B3-2644-43A2-BA96-B12E54E4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A73"/>
          </a:solidFill>
        </p:spPr>
      </p:sp>
      <p:sp>
        <p:nvSpPr>
          <p:cNvPr id="6" name="bullet-text">
            <a:extLst xmlns:a="http://schemas.openxmlformats.org/drawingml/2006/main">
              <a:ext uri="{FF2B5EF4-FFF2-40B4-BE49-F238E27FC236}">
                <a16:creationId xmlns:a16="http://schemas.microsoft.com/office/drawing/2014/main" id="{C0EFFEAE-93C5-4BC8-BC33-F9EA5E7B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9239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Initialize fixed number of nests uniformly in the search domain.</a:t>
            </a:r>
          </a:p>
        </p:txBody>
      </p:sp>
      <p:sp>
        <p:nvSpPr>
          <p:cNvPr id="7" name="bullet-mark">
            <a:extLst xmlns:a="http://schemas.openxmlformats.org/drawingml/2006/main">
              <a:ext uri="{FF2B5EF4-FFF2-40B4-BE49-F238E27FC236}">
                <a16:creationId xmlns:a16="http://schemas.microsoft.com/office/drawing/2014/main" id="{3CF34F11-5CE5-4533-BF11-5CDD5FB8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532F"/>
          </a:solidFill>
        </p:spPr>
      </p:sp>
      <p:sp>
        <p:nvSpPr>
          <p:cNvPr id="8" name="bullet-text">
            <a:extLst xmlns:a="http://schemas.openxmlformats.org/drawingml/2006/main">
              <a:ext uri="{FF2B5EF4-FFF2-40B4-BE49-F238E27FC236}">
                <a16:creationId xmlns:a16="http://schemas.microsoft.com/office/drawing/2014/main" id="{C63A41C7-38A3-4BB7-B95B-A18D25D4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81350"/>
            <a:ext cx="9239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Generate new nests with Levy flights.</a:t>
            </a:r>
          </a:p>
        </p:txBody>
      </p:sp>
      <p:sp>
        <p:nvSpPr>
          <p:cNvPr id="9" name="bullet-mark">
            <a:extLst xmlns:a="http://schemas.openxmlformats.org/drawingml/2006/main">
              <a:ext uri="{FF2B5EF4-FFF2-40B4-BE49-F238E27FC236}">
                <a16:creationId xmlns:a16="http://schemas.microsoft.com/office/drawing/2014/main" id="{652F6E58-5BEB-4D51-9FDD-E9D57C25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0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</p:spPr>
      </p:sp>
      <p:sp>
        <p:nvSpPr>
          <p:cNvPr id="10" name="bullet-text">
            <a:extLst xmlns:a="http://schemas.openxmlformats.org/drawingml/2006/main">
              <a:ext uri="{FF2B5EF4-FFF2-40B4-BE49-F238E27FC236}">
                <a16:creationId xmlns:a16="http://schemas.microsoft.com/office/drawing/2014/main" id="{4A4D624A-F2EA-450D-86D2-92916856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9239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Keep a candidate only when it improves fitness.</a:t>
            </a:r>
          </a:p>
        </p:txBody>
      </p:sp>
      <p:sp>
        <p:nvSpPr>
          <p:cNvPr id="11" name="bullet-mark">
            <a:extLst xmlns:a="http://schemas.openxmlformats.org/drawingml/2006/main">
              <a:ext uri="{FF2B5EF4-FFF2-40B4-BE49-F238E27FC236}">
                <a16:creationId xmlns:a16="http://schemas.microsoft.com/office/drawing/2014/main" id="{356A0381-3858-4501-83A7-5E00CE01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5CA5"/>
          </a:solidFill>
        </p:spPr>
      </p:sp>
      <p:sp>
        <p:nvSpPr>
          <p:cNvPr id="12" name="bullet-text">
            <a:extLst xmlns:a="http://schemas.openxmlformats.org/drawingml/2006/main">
              <a:ext uri="{FF2B5EF4-FFF2-40B4-BE49-F238E27FC236}">
                <a16:creationId xmlns:a16="http://schemas.microsoft.com/office/drawing/2014/main" id="{41B21692-46C3-44ED-B894-BF0BB788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67200"/>
            <a:ext cx="9239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Discover/replace part of the population using pa.</a:t>
            </a:r>
          </a:p>
        </p:txBody>
      </p:sp>
      <p:sp>
        <p:nvSpPr>
          <p:cNvPr id="13" name="bullet-mark">
            <a:extLst xmlns:a="http://schemas.openxmlformats.org/drawingml/2006/main">
              <a:ext uri="{FF2B5EF4-FFF2-40B4-BE49-F238E27FC236}">
                <a16:creationId xmlns:a16="http://schemas.microsoft.com/office/drawing/2014/main" id="{1F239073-5322-4C1C-8816-B2858363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9A3A"/>
          </a:solidFill>
        </p:spPr>
      </p:sp>
      <p:sp>
        <p:nvSpPr>
          <p:cNvPr id="14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403B38A-26D6-434A-A1C0-D64372D8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00600"/>
            <a:ext cx="9239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Track the best nest after each iteration.</a:t>
            </a:r>
          </a:p>
        </p:txBody>
      </p:sp>
      <p:sp>
        <p:nvSpPr>
          <p:cNvPr id="15" name="code-artifact">
            <a:extLst xmlns:a="http://schemas.openxmlformats.org/drawingml/2006/main">
              <a:ext uri="{FF2B5EF4-FFF2-40B4-BE49-F238E27FC236}">
                <a16:creationId xmlns:a16="http://schemas.microsoft.com/office/drawing/2014/main" id="{7995A9C2-3321-4204-8E09-104CB925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644140"/>
            <a:ext cx="6667500" cy="2689860"/>
          </a:xfrm>
          <a:prstGeom xmlns:a="http://schemas.openxmlformats.org/drawingml/2006/main" prst="roundRect">
            <a:avLst>
              <a:gd name="adj" fmla="val 2833"/>
            </a:avLst>
          </a:prstGeom>
          <a:solidFill xmlns:a="http://schemas.openxmlformats.org/drawingml/2006/main">
            <a:srgbClr val="F4EFE7"/>
          </a:solidFill>
        </p:spPr>
      </p:sp>
      <p:sp>
        <p:nvSpPr>
          <p:cNvPr id="16" name="pseudo-code">
            <a:extLst xmlns:a="http://schemas.openxmlformats.org/drawingml/2006/main">
              <a:ext uri="{FF2B5EF4-FFF2-40B4-BE49-F238E27FC236}">
                <a16:creationId xmlns:a16="http://schemas.microsoft.com/office/drawing/2014/main" id="{F98DB3A2-D91F-4CCC-AFB7-B5BCCE05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895600"/>
            <a:ext cx="6096000" cy="2209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F2933"/>
                </a:solidFill>
              </a:defRPr>
            </a:pPr>
            <a:r>
              <a:rPr sz="1800">
                <a:solidFill>
                  <a:srgbClr val="1F2933"/>
                </a:solidFill>
              </a:rPr>
              <a:t>for iteration in range(max_iter):</a:t>
            </a:r>
          </a:p>
          <a:p xmlns:a="http://schemas.openxmlformats.org/drawingml/2006/main">
            <a:pPr>
              <a:defRPr sz="1800">
                <a:solidFill>
                  <a:srgbClr val="1F2933"/>
                </a:solidFill>
              </a:defRPr>
            </a:pPr>
            <a:r>
              <a:rPr sz="1800">
                <a:solidFill>
                  <a:srgbClr val="1F2933"/>
                </a:solidFill>
              </a:rPr>
              <a:t>    new = levy_flight(nests, best)</a:t>
            </a:r>
          </a:p>
          <a:p xmlns:a="http://schemas.openxmlformats.org/drawingml/2006/main">
            <a:pPr>
              <a:defRPr sz="1800">
                <a:solidFill>
                  <a:srgbClr val="1F2933"/>
                </a:solidFill>
              </a:defRPr>
            </a:pPr>
            <a:r>
              <a:rPr sz="1800">
                <a:solidFill>
                  <a:srgbClr val="1F2933"/>
                </a:solidFill>
              </a:rPr>
              <a:t>    nests = keep_improvements(nests, new)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>
                <a:solidFill>
                  <a:srgbClr val="1F2933"/>
                </a:solidFill>
              </a:defRPr>
            </a:pPr>
            <a:r>
              <a:rPr sz="1800">
                <a:solidFill>
                  <a:srgbClr val="1F2933"/>
                </a:solidFill>
              </a:rPr>
              <a:t>    discovered = random_walk(nests, pa)</a:t>
            </a:r>
          </a:p>
          <a:p xmlns:a="http://schemas.openxmlformats.org/drawingml/2006/main">
            <a:pPr>
              <a:defRPr sz="1800">
                <a:solidFill>
                  <a:srgbClr val="1F2933"/>
                </a:solidFill>
              </a:defRPr>
            </a:pPr>
            <a:r>
              <a:rPr sz="1800">
                <a:solidFill>
                  <a:srgbClr val="1F2933"/>
                </a:solidFill>
              </a:rPr>
              <a:t>    nests = keep_improvements(nests, discovered)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>
                <a:solidFill>
                  <a:srgbClr val="1F2933"/>
                </a:solidFill>
              </a:defRPr>
            </a:pPr>
            <a:r>
              <a:rPr sz="1800">
                <a:solidFill>
                  <a:srgbClr val="1F2933"/>
                </a:solidFill>
              </a:rPr>
              <a:t>    best = min(nests, key=fitness)</a:t>
            </a:r>
          </a:p>
        </p:txBody>
      </p:sp>
      <p:sp>
        <p:nvSpPr>
          <p:cNvPr id="17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A23AF89-5646-44D4-814B-D53C4E80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0595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Yang &amp; Deb, Cuckoo Search via Levy Flights, NaBIC 2009</a:t>
            </a:r>
          </a:p>
        </p:txBody>
      </p:sp>
    </p:spTree>
    <p:extLst>
      <p:ext uri="{BB962C8B-B14F-4D97-AF65-F5344CB8AC3E}">
        <p14:creationId xmlns:p14="http://schemas.microsoft.com/office/powerpoint/2010/main" val="2225767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43374B75-DCB6-4BE7-BED0-63B5AFFF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8663596B-63D6-417C-A58B-1DC6745A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6A73"/>
                </a:solidFill>
              </a:defRPr>
            </a:pPr>
            <a:r>
              <a:rPr sz="1275" b="1">
                <a:solidFill>
                  <a:srgbClr val="246A73"/>
                </a:solidFill>
              </a:rPr>
              <a:t>LEVY FLIGHTS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4BA053-6165-4AF2-956D-892841E8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3450"/>
            <a:ext cx="166497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F2933"/>
                </a:solidFill>
              </a:defRPr>
            </a:pPr>
            <a:r>
              <a:rPr sz="4650" b="1">
                <a:solidFill>
                  <a:srgbClr val="1F2933"/>
                </a:solidFill>
              </a:rPr>
              <a:t>Small steps usually, large jumps sometimes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5ECE5FF-EADE-4A5F-A66F-C943D8F3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117538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F6368"/>
                </a:solidFill>
              </a:defRPr>
            </a:pPr>
            <a:r>
              <a:rPr sz="2025">
                <a:solidFill>
                  <a:srgbClr val="5F6368"/>
                </a:solidFill>
              </a:rPr>
              <a:t>That heavy tail is the search trick: local refinement remains possible, but the algorithm can still jump out of a bad basin.</a:t>
            </a:r>
          </a:p>
        </p:txBody>
      </p:sp>
      <p:sp>
        <p:nvSpPr>
          <p:cNvPr id="5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B93DB6F9-C37F-4113-94A5-94A71ED4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72050"/>
            <a:ext cx="51625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46A73"/>
                </a:solidFill>
              </a:defRPr>
            </a:pPr>
            <a:r>
              <a:rPr sz="4200" b="1">
                <a:solidFill>
                  <a:srgbClr val="246A73"/>
                </a:solidFill>
              </a:rPr>
              <a:t>small</a:t>
            </a:r>
          </a:p>
        </p:txBody>
      </p:sp>
      <p:sp>
        <p:nvSpPr>
          <p:cNvPr id="6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B06D09FD-A60B-43B6-B322-85C1E9F1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95950"/>
            <a:ext cx="516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normal local search move</a:t>
            </a:r>
          </a:p>
        </p:txBody>
      </p:sp>
      <p:sp>
        <p:nvSpPr>
          <p:cNvPr id="7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222C3B26-B822-4C88-8BE1-B43DAF41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51625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B5532F"/>
                </a:solidFill>
              </a:defRPr>
            </a:pPr>
            <a:r>
              <a:rPr sz="4200" b="1">
                <a:solidFill>
                  <a:srgbClr val="B5532F"/>
                </a:solidFill>
              </a:rPr>
              <a:t>rare</a:t>
            </a:r>
          </a:p>
        </p:txBody>
      </p:sp>
      <p:sp>
        <p:nvSpPr>
          <p:cNvPr id="8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329B5FA-AF1A-4E26-92CC-49B490D5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95950"/>
            <a:ext cx="516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Levy-flight escape move</a:t>
            </a:r>
          </a:p>
        </p:txBody>
      </p:sp>
      <p:sp>
        <p:nvSpPr>
          <p:cNvPr id="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030421D0-15F7-4492-8673-49F789B1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4972050"/>
            <a:ext cx="51625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6B5CA5"/>
                </a:solidFill>
              </a:defRPr>
            </a:pPr>
            <a:r>
              <a:rPr sz="4200" b="1">
                <a:solidFill>
                  <a:srgbClr val="6B5CA5"/>
                </a:solidFill>
              </a:rPr>
              <a:t>mixed</a:t>
            </a:r>
          </a:p>
        </p:txBody>
      </p:sp>
      <p:sp>
        <p:nvSpPr>
          <p:cNvPr id="1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9C3E65F7-815A-4F42-AB3F-F0260D32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5695950"/>
            <a:ext cx="516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effect on search</a:t>
            </a:r>
          </a:p>
        </p:txBody>
      </p:sp>
      <p:sp>
        <p:nvSpPr>
          <p:cNvPr id="11" name="levy-caption">
            <a:extLst xmlns:a="http://schemas.openxmlformats.org/drawingml/2006/main">
              <a:ext uri="{FF2B5EF4-FFF2-40B4-BE49-F238E27FC236}">
                <a16:creationId xmlns:a16="http://schemas.microsoft.com/office/drawing/2014/main" id="{58A36D8E-3812-409A-9978-6B5EEFAF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496300"/>
            <a:ext cx="116395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5F6368"/>
                </a:solidFill>
              </a:defRPr>
            </a:pPr>
            <a:r>
              <a:rPr sz="2175">
                <a:solidFill>
                  <a:srgbClr val="5F6368"/>
                </a:solidFill>
              </a:rPr>
              <a:t>In the implementation, Mantegna sampling generates the heavy-tailed steps; values outside the domain are clipped back to valid bounds.</a:t>
            </a:r>
          </a:p>
        </p:txBody>
      </p:sp>
      <p:sp>
        <p:nvSpPr>
          <p:cNvPr id="1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FC44A6E-E5F4-4B91-8597-0D5E219F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0595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Yang &amp; Deb, Cuckoo Search via Levy Flights, NaBIC 2009</a:t>
            </a:r>
          </a:p>
        </p:txBody>
      </p:sp>
    </p:spTree>
    <p:extLst>
      <p:ext uri="{BB962C8B-B14F-4D97-AF65-F5344CB8AC3E}">
        <p14:creationId xmlns:p14="http://schemas.microsoft.com/office/powerpoint/2010/main" val="14499792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A4666CC7-0702-4920-A235-9660B413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B838AC4C-2705-4B5D-85E4-F04434D7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6A73"/>
                </a:solidFill>
              </a:defRPr>
            </a:pPr>
            <a:r>
              <a:rPr sz="1275" b="1">
                <a:solidFill>
                  <a:srgbClr val="246A73"/>
                </a:solidFill>
              </a:rPr>
              <a:t>DEMO DESIGN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4FFD7D-7179-4A09-B149-771ED2DE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3450"/>
            <a:ext cx="166497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F2933"/>
                </a:solidFill>
              </a:defRPr>
            </a:pPr>
            <a:r>
              <a:rPr sz="4650" b="1">
                <a:solidFill>
                  <a:srgbClr val="1F2933"/>
                </a:solidFill>
              </a:rPr>
              <a:t>Three benchmarks, one fair baseline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030F514-A85F-411B-9925-9BDFBEAA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116776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F6368"/>
                </a:solidFill>
              </a:defRPr>
            </a:pPr>
            <a:r>
              <a:rPr sz="2025">
                <a:solidFill>
                  <a:srgbClr val="5F6368"/>
                </a:solidFill>
              </a:rPr>
              <a:t>I used continuous test functions because the original paper validates CS on test functions, and the semester labs already used Sphere and Michalewicz.</a:t>
            </a:r>
          </a:p>
        </p:txBody>
      </p:sp>
      <p:sp>
        <p:nvSpPr>
          <p:cNvPr id="5" name="b-h1">
            <a:extLst xmlns:a="http://schemas.openxmlformats.org/drawingml/2006/main">
              <a:ext uri="{FF2B5EF4-FFF2-40B4-BE49-F238E27FC236}">
                <a16:creationId xmlns:a16="http://schemas.microsoft.com/office/drawing/2014/main" id="{C44CF01B-5203-4CFB-A0B3-3BFE6393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365760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6A73"/>
                </a:solidFill>
              </a:defRPr>
            </a:pPr>
            <a:r>
              <a:rPr sz="2175" b="1">
                <a:solidFill>
                  <a:srgbClr val="246A73"/>
                </a:solidFill>
              </a:rPr>
              <a:t>Function</a:t>
            </a:r>
          </a:p>
        </p:txBody>
      </p:sp>
      <p:sp>
        <p:nvSpPr>
          <p:cNvPr id="6" name="b-h2">
            <a:extLst xmlns:a="http://schemas.openxmlformats.org/drawingml/2006/main">
              <a:ext uri="{FF2B5EF4-FFF2-40B4-BE49-F238E27FC236}">
                <a16:creationId xmlns:a16="http://schemas.microsoft.com/office/drawing/2014/main" id="{E873A5C4-FAD5-4457-BE5A-02AEF5A1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667000"/>
            <a:ext cx="52768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6A73"/>
                </a:solidFill>
              </a:defRPr>
            </a:pPr>
            <a:r>
              <a:rPr sz="2175" b="1">
                <a:solidFill>
                  <a:srgbClr val="246A73"/>
                </a:solidFill>
              </a:rPr>
              <a:t>Why it is useful</a:t>
            </a:r>
          </a:p>
        </p:txBody>
      </p:sp>
      <p:sp>
        <p:nvSpPr>
          <p:cNvPr id="7" name="b-h3">
            <a:extLst xmlns:a="http://schemas.openxmlformats.org/drawingml/2006/main">
              <a:ext uri="{FF2B5EF4-FFF2-40B4-BE49-F238E27FC236}">
                <a16:creationId xmlns:a16="http://schemas.microsoft.com/office/drawing/2014/main" id="{D75E1CF9-A142-40D9-9E5D-FB092740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667000"/>
            <a:ext cx="71056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46A73"/>
                </a:solidFill>
              </a:defRPr>
            </a:pPr>
            <a:r>
              <a:rPr sz="2175" b="1">
                <a:solidFill>
                  <a:srgbClr val="246A73"/>
                </a:solidFill>
              </a:rPr>
              <a:t>Expected behavior</a:t>
            </a:r>
          </a:p>
        </p:txBody>
      </p:sp>
      <p:sp>
        <p:nvSpPr>
          <p:cNvPr id="8" name="b1">
            <a:extLst xmlns:a="http://schemas.openxmlformats.org/drawingml/2006/main">
              <a:ext uri="{FF2B5EF4-FFF2-40B4-BE49-F238E27FC236}">
                <a16:creationId xmlns:a16="http://schemas.microsoft.com/office/drawing/2014/main" id="{07B3D4F5-8414-4190-A2FA-B5013FE7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365760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Sphere</a:t>
            </a:r>
          </a:p>
        </p:txBody>
      </p:sp>
      <p:sp>
        <p:nvSpPr>
          <p:cNvPr id="9" name="b2">
            <a:extLst xmlns:a="http://schemas.openxmlformats.org/drawingml/2006/main">
              <a:ext uri="{FF2B5EF4-FFF2-40B4-BE49-F238E27FC236}">
                <a16:creationId xmlns:a16="http://schemas.microsoft.com/office/drawing/2014/main" id="{930DA8BB-B4DC-49BA-80A8-1F656F2F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38600"/>
            <a:ext cx="52768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smooth unimodal sanity check</a:t>
            </a:r>
          </a:p>
        </p:txBody>
      </p:sp>
      <p:sp>
        <p:nvSpPr>
          <p:cNvPr id="10" name="b3">
            <a:extLst xmlns:a="http://schemas.openxmlformats.org/drawingml/2006/main">
              <a:ext uri="{FF2B5EF4-FFF2-40B4-BE49-F238E27FC236}">
                <a16:creationId xmlns:a16="http://schemas.microsoft.com/office/drawing/2014/main" id="{2CE375B7-D004-48E9-9CE7-19CDD5E5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038600"/>
            <a:ext cx="71056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should converge close to zero</a:t>
            </a:r>
          </a:p>
        </p:txBody>
      </p:sp>
      <p:sp>
        <p:nvSpPr>
          <p:cNvPr id="11" name="b4">
            <a:extLst xmlns:a="http://schemas.openxmlformats.org/drawingml/2006/main">
              <a:ext uri="{FF2B5EF4-FFF2-40B4-BE49-F238E27FC236}">
                <a16:creationId xmlns:a16="http://schemas.microsoft.com/office/drawing/2014/main" id="{AD036D7A-EAB8-4207-935C-D9E941EB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365760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Rastrigin</a:t>
            </a:r>
          </a:p>
        </p:txBody>
      </p:sp>
      <p:sp>
        <p:nvSpPr>
          <p:cNvPr id="12" name="b5">
            <a:extLst xmlns:a="http://schemas.openxmlformats.org/drawingml/2006/main">
              <a:ext uri="{FF2B5EF4-FFF2-40B4-BE49-F238E27FC236}">
                <a16:creationId xmlns:a16="http://schemas.microsoft.com/office/drawing/2014/main" id="{A381958D-586C-4199-8513-9C8CA237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429250"/>
            <a:ext cx="52768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many regular local minima</a:t>
            </a:r>
          </a:p>
        </p:txBody>
      </p:sp>
      <p:sp>
        <p:nvSpPr>
          <p:cNvPr id="13" name="b6">
            <a:extLst xmlns:a="http://schemas.openxmlformats.org/drawingml/2006/main">
              <a:ext uri="{FF2B5EF4-FFF2-40B4-BE49-F238E27FC236}">
                <a16:creationId xmlns:a16="http://schemas.microsoft.com/office/drawing/2014/main" id="{650DE2CD-E109-4321-8BFA-CAADC904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429250"/>
            <a:ext cx="71056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large jumps should help</a:t>
            </a:r>
          </a:p>
        </p:txBody>
      </p:sp>
      <p:sp>
        <p:nvSpPr>
          <p:cNvPr id="14" name="b7">
            <a:extLst xmlns:a="http://schemas.openxmlformats.org/drawingml/2006/main">
              <a:ext uri="{FF2B5EF4-FFF2-40B4-BE49-F238E27FC236}">
                <a16:creationId xmlns:a16="http://schemas.microsoft.com/office/drawing/2014/main" id="{FBF75565-D189-4A94-98FE-1303DE5A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19900"/>
            <a:ext cx="365760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Michalewicz</a:t>
            </a:r>
          </a:p>
        </p:txBody>
      </p:sp>
      <p:sp>
        <p:nvSpPr>
          <p:cNvPr id="15" name="b8">
            <a:extLst xmlns:a="http://schemas.openxmlformats.org/drawingml/2006/main">
              <a:ext uri="{FF2B5EF4-FFF2-40B4-BE49-F238E27FC236}">
                <a16:creationId xmlns:a16="http://schemas.microsoft.com/office/drawing/2014/main" id="{B314C5A0-60B4-4D5F-A388-B7A8993C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819900"/>
            <a:ext cx="52768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sharp multimodal valleys</a:t>
            </a:r>
          </a:p>
        </p:txBody>
      </p:sp>
      <p:sp>
        <p:nvSpPr>
          <p:cNvPr id="16" name="b9">
            <a:extLst xmlns:a="http://schemas.openxmlformats.org/drawingml/2006/main">
              <a:ext uri="{FF2B5EF4-FFF2-40B4-BE49-F238E27FC236}">
                <a16:creationId xmlns:a16="http://schemas.microsoft.com/office/drawing/2014/main" id="{3091ACAC-DD5B-4FA4-AB41-FA004B84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819900"/>
            <a:ext cx="71056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good solutions, not guaranteed optimum</a:t>
            </a:r>
          </a:p>
        </p:txBody>
      </p:sp>
      <p:sp>
        <p:nvSpPr>
          <p:cNvPr id="17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60DB740D-722F-49DF-B564-C6CF0154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286750"/>
            <a:ext cx="52578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46A73"/>
                </a:solidFill>
              </a:defRPr>
            </a:pPr>
            <a:r>
              <a:rPr sz="4200" b="1">
                <a:solidFill>
                  <a:srgbClr val="246A73"/>
                </a:solidFill>
              </a:rPr>
              <a:t>10</a:t>
            </a:r>
          </a:p>
        </p:txBody>
      </p:sp>
      <p:sp>
        <p:nvSpPr>
          <p:cNvPr id="18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E1F79792-B4CD-44FA-8401-E206F6C0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010650"/>
            <a:ext cx="5257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independent runs</a:t>
            </a:r>
          </a:p>
        </p:txBody>
      </p:sp>
      <p:sp>
        <p:nvSpPr>
          <p:cNvPr id="1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80196DAC-5366-4380-942A-C6B4B897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8286750"/>
            <a:ext cx="52578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B5532F"/>
                </a:solidFill>
              </a:defRPr>
            </a:pPr>
            <a:r>
              <a:rPr sz="4200" b="1">
                <a:solidFill>
                  <a:srgbClr val="B5532F"/>
                </a:solidFill>
              </a:rPr>
              <a:t>10D</a:t>
            </a:r>
          </a:p>
        </p:txBody>
      </p:sp>
      <p:sp>
        <p:nvSpPr>
          <p:cNvPr id="2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78A704EC-5592-47A9-AACB-751CCBB3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9010650"/>
            <a:ext cx="5257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dimensions</a:t>
            </a:r>
          </a:p>
        </p:txBody>
      </p:sp>
      <p:sp>
        <p:nvSpPr>
          <p:cNvPr id="21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B4A4F015-34B5-4753-A6CF-F3582D9B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8286750"/>
            <a:ext cx="52578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6B5CA5"/>
                </a:solidFill>
              </a:defRPr>
            </a:pPr>
            <a:r>
              <a:rPr sz="4200" b="1">
                <a:solidFill>
                  <a:srgbClr val="6B5CA5"/>
                </a:solidFill>
              </a:rPr>
              <a:t>same budget</a:t>
            </a:r>
          </a:p>
        </p:txBody>
      </p:sp>
      <p:sp>
        <p:nvSpPr>
          <p:cNvPr id="22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F3EB2EC9-5A1E-4632-8070-B8D393C5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9010650"/>
            <a:ext cx="5257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baseline</a:t>
            </a:r>
          </a:p>
        </p:txBody>
      </p:sp>
      <p:sp>
        <p:nvSpPr>
          <p:cNvPr id="23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0E6086FA-C3C4-4D0A-8816-43754FDB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0595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Yang &amp; Deb, Cuckoo Search via Levy Flights, NaBIC 2009</a:t>
            </a:r>
          </a:p>
        </p:txBody>
      </p:sp>
    </p:spTree>
    <p:extLst>
      <p:ext uri="{BB962C8B-B14F-4D97-AF65-F5344CB8AC3E}">
        <p14:creationId xmlns:p14="http://schemas.microsoft.com/office/powerpoint/2010/main" val="123498653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86BF9F4F-B753-4ACC-B9C6-F18B8B3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B3185F47-899A-4559-9981-552B57F9F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6A73"/>
                </a:solidFill>
              </a:defRPr>
            </a:pPr>
            <a:r>
              <a:rPr sz="1275" b="1">
                <a:solidFill>
                  <a:srgbClr val="246A73"/>
                </a:solidFill>
              </a:rPr>
              <a:t>RESULTS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9954F7D-4233-44D1-850F-E772B521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3450"/>
            <a:ext cx="166497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F2933"/>
                </a:solidFill>
              </a:defRPr>
            </a:pPr>
            <a:r>
              <a:rPr sz="4650" b="1">
                <a:solidFill>
                  <a:srgbClr val="1F2933"/>
                </a:solidFill>
              </a:rPr>
              <a:t>CS beats random search on every benchmark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63C9D36-28F7-4ED2-B5B8-8495FB6B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113919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F6368"/>
                </a:solidFill>
              </a:defRPr>
            </a:pPr>
            <a:r>
              <a:rPr sz="2025">
                <a:solidFill>
                  <a:srgbClr val="5F6368"/>
                </a:solidFill>
              </a:rPr>
              <a:t>The table reports the best CS setting by average performance, compared with Random Search using the same evaluation budget.</a:t>
            </a:r>
          </a:p>
        </p:txBody>
      </p:sp>
      <p:sp>
        <p:nvSpPr>
          <p:cNvPr id="5" name="table-cell-0">
            <a:extLst xmlns:a="http://schemas.openxmlformats.org/drawingml/2006/main">
              <a:ext uri="{FF2B5EF4-FFF2-40B4-BE49-F238E27FC236}">
                <a16:creationId xmlns:a16="http://schemas.microsoft.com/office/drawing/2014/main" id="{16CBFD2B-DC42-4E7F-AC02-CD152668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346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46A73"/>
                </a:solidFill>
              </a:defRPr>
            </a:pPr>
            <a:r>
              <a:rPr sz="1425" b="1">
                <a:solidFill>
                  <a:srgbClr val="246A73"/>
                </a:solidFill>
              </a:rPr>
              <a:t>Benchmark</a:t>
            </a:r>
          </a:p>
        </p:txBody>
      </p:sp>
      <p:sp>
        <p:nvSpPr>
          <p:cNvPr id="6" name="table-cell-1">
            <a:extLst xmlns:a="http://schemas.openxmlformats.org/drawingml/2006/main">
              <a:ext uri="{FF2B5EF4-FFF2-40B4-BE49-F238E27FC236}">
                <a16:creationId xmlns:a16="http://schemas.microsoft.com/office/drawing/2014/main" id="{031D9D82-F19C-4692-9417-1318664F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43200"/>
            <a:ext cx="3829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46A73"/>
                </a:solidFill>
              </a:defRPr>
            </a:pPr>
            <a:r>
              <a:rPr sz="1425" b="1">
                <a:solidFill>
                  <a:srgbClr val="246A73"/>
                </a:solidFill>
              </a:rPr>
              <a:t>Best CS avg</a:t>
            </a:r>
          </a:p>
        </p:txBody>
      </p:sp>
      <p:sp>
        <p:nvSpPr>
          <p:cNvPr id="7" name="table-cell-2">
            <a:extLst xmlns:a="http://schemas.openxmlformats.org/drawingml/2006/main">
              <a:ext uri="{FF2B5EF4-FFF2-40B4-BE49-F238E27FC236}">
                <a16:creationId xmlns:a16="http://schemas.microsoft.com/office/drawing/2014/main" id="{37E9D77E-60CE-4BE2-B760-EDF075AB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43200"/>
            <a:ext cx="3638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46A73"/>
                </a:solidFill>
              </a:defRPr>
            </a:pPr>
            <a:r>
              <a:rPr sz="1425" b="1">
                <a:solidFill>
                  <a:srgbClr val="246A73"/>
                </a:solidFill>
              </a:rPr>
              <a:t>Random avg</a:t>
            </a:r>
          </a:p>
        </p:txBody>
      </p:sp>
      <p:sp>
        <p:nvSpPr>
          <p:cNvPr id="8" name="table-cell-3">
            <a:extLst xmlns:a="http://schemas.openxmlformats.org/drawingml/2006/main">
              <a:ext uri="{FF2B5EF4-FFF2-40B4-BE49-F238E27FC236}">
                <a16:creationId xmlns:a16="http://schemas.microsoft.com/office/drawing/2014/main" id="{EF99E960-3F32-4470-9FCB-1884F812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2743200"/>
            <a:ext cx="5105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46A73"/>
                </a:solidFill>
              </a:defRPr>
            </a:pPr>
            <a:r>
              <a:rPr sz="1425" b="1">
                <a:solidFill>
                  <a:srgbClr val="246A73"/>
                </a:solidFill>
              </a:rPr>
              <a:t>Main read</a:t>
            </a:r>
          </a:p>
        </p:txBody>
      </p:sp>
      <p:sp>
        <p:nvSpPr>
          <p:cNvPr id="9" name="table-rule">
            <a:extLst xmlns:a="http://schemas.openxmlformats.org/drawingml/2006/main">
              <a:ext uri="{FF2B5EF4-FFF2-40B4-BE49-F238E27FC236}">
                <a16:creationId xmlns:a16="http://schemas.microsoft.com/office/drawing/2014/main" id="{C069FD0D-3288-48C7-A2AE-7CBF9895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67050"/>
            <a:ext cx="16649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8"/>
          </a:solidFill>
          <a:ln xmlns:a="http://schemas.openxmlformats.org/drawingml/2006/main" w="0">
            <a:solidFill>
              <a:srgbClr val="D8D1C8"/>
            </a:solidFill>
            <a:prstDash val="solid"/>
          </a:ln>
        </p:spPr>
      </p:sp>
      <p:sp>
        <p:nvSpPr>
          <p:cNvPr id="10" name="table-cell-0">
            <a:extLst xmlns:a="http://schemas.openxmlformats.org/drawingml/2006/main">
              <a:ext uri="{FF2B5EF4-FFF2-40B4-BE49-F238E27FC236}">
                <a16:creationId xmlns:a16="http://schemas.microsoft.com/office/drawing/2014/main" id="{30C0E736-319D-4F00-B9D7-FAC87AB0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0400"/>
            <a:ext cx="3467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Sphere</a:t>
            </a:r>
          </a:p>
        </p:txBody>
      </p:sp>
      <p:sp>
        <p:nvSpPr>
          <p:cNvPr id="11" name="table-cell-1">
            <a:extLst xmlns:a="http://schemas.openxmlformats.org/drawingml/2006/main">
              <a:ext uri="{FF2B5EF4-FFF2-40B4-BE49-F238E27FC236}">
                <a16:creationId xmlns:a16="http://schemas.microsoft.com/office/drawing/2014/main" id="{74254FA5-7EFB-4271-ABF6-8AB1C924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00400"/>
            <a:ext cx="3829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exploratory: 3.01e-7</a:t>
            </a:r>
          </a:p>
        </p:txBody>
      </p:sp>
      <p:sp>
        <p:nvSpPr>
          <p:cNvPr id="12" name="table-cell-2">
            <a:extLst xmlns:a="http://schemas.openxmlformats.org/drawingml/2006/main">
              <a:ext uri="{FF2B5EF4-FFF2-40B4-BE49-F238E27FC236}">
                <a16:creationId xmlns:a16="http://schemas.microsoft.com/office/drawing/2014/main" id="{56BB2DCA-283A-4535-B151-F87DE4A0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00400"/>
            <a:ext cx="3638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13.15</a:t>
            </a:r>
          </a:p>
        </p:txBody>
      </p:sp>
      <p:sp>
        <p:nvSpPr>
          <p:cNvPr id="13" name="table-cell-3">
            <a:extLst xmlns:a="http://schemas.openxmlformats.org/drawingml/2006/main">
              <a:ext uri="{FF2B5EF4-FFF2-40B4-BE49-F238E27FC236}">
                <a16:creationId xmlns:a16="http://schemas.microsoft.com/office/drawing/2014/main" id="{BE0AB618-CD68-4E61-9049-CB64170A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200400"/>
            <a:ext cx="510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near-zero refinement</a:t>
            </a:r>
          </a:p>
        </p:txBody>
      </p:sp>
      <p:sp>
        <p:nvSpPr>
          <p:cNvPr id="14" name="row-rule-0">
            <a:extLst xmlns:a="http://schemas.openxmlformats.org/drawingml/2006/main">
              <a:ext uri="{FF2B5EF4-FFF2-40B4-BE49-F238E27FC236}">
                <a16:creationId xmlns:a16="http://schemas.microsoft.com/office/drawing/2014/main" id="{8D122A87-8BAF-4576-B2B3-77C71E70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1664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8"/>
          </a:solidFill>
          <a:ln xmlns:a="http://schemas.openxmlformats.org/drawingml/2006/main" w="0">
            <a:solidFill>
              <a:srgbClr val="D8D1C8"/>
            </a:solidFill>
            <a:prstDash val="solid"/>
          </a:ln>
        </p:spPr>
      </p:sp>
      <p:sp>
        <p:nvSpPr>
          <p:cNvPr id="15" name="table-cell-0">
            <a:extLst xmlns:a="http://schemas.openxmlformats.org/drawingml/2006/main">
              <a:ext uri="{FF2B5EF4-FFF2-40B4-BE49-F238E27FC236}">
                <a16:creationId xmlns:a16="http://schemas.microsoft.com/office/drawing/2014/main" id="{C7D0DA08-D562-4844-B15B-9E7ED34B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3467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Rastrigin</a:t>
            </a:r>
          </a:p>
        </p:txBody>
      </p:sp>
      <p:sp>
        <p:nvSpPr>
          <p:cNvPr id="16" name="table-cell-1">
            <a:extLst xmlns:a="http://schemas.openxmlformats.org/drawingml/2006/main">
              <a:ext uri="{FF2B5EF4-FFF2-40B4-BE49-F238E27FC236}">
                <a16:creationId xmlns:a16="http://schemas.microsoft.com/office/drawing/2014/main" id="{F40F3FFF-D3FF-4605-A6E7-40467E20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3829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exploratory: 13.53</a:t>
            </a:r>
          </a:p>
        </p:txBody>
      </p:sp>
      <p:sp>
        <p:nvSpPr>
          <p:cNvPr id="17" name="table-cell-2">
            <a:extLst xmlns:a="http://schemas.openxmlformats.org/drawingml/2006/main">
              <a:ext uri="{FF2B5EF4-FFF2-40B4-BE49-F238E27FC236}">
                <a16:creationId xmlns:a16="http://schemas.microsoft.com/office/drawing/2014/main" id="{DBFB9FF8-A846-4BFD-8574-1445FFCE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95700"/>
            <a:ext cx="3638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67.69</a:t>
            </a:r>
          </a:p>
        </p:txBody>
      </p:sp>
      <p:sp>
        <p:nvSpPr>
          <p:cNvPr id="18" name="table-cell-3">
            <a:extLst xmlns:a="http://schemas.openxmlformats.org/drawingml/2006/main">
              <a:ext uri="{FF2B5EF4-FFF2-40B4-BE49-F238E27FC236}">
                <a16:creationId xmlns:a16="http://schemas.microsoft.com/office/drawing/2014/main" id="{F1D27D76-F995-4953-80C5-40E79B3F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695700"/>
            <a:ext cx="510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escapes many local basins</a:t>
            </a:r>
          </a:p>
        </p:txBody>
      </p:sp>
      <p:sp>
        <p:nvSpPr>
          <p:cNvPr id="19" name="row-rule-1">
            <a:extLst xmlns:a="http://schemas.openxmlformats.org/drawingml/2006/main">
              <a:ext uri="{FF2B5EF4-FFF2-40B4-BE49-F238E27FC236}">
                <a16:creationId xmlns:a16="http://schemas.microsoft.com/office/drawing/2014/main" id="{13792843-3F5A-47B2-A206-E63351C9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1664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8"/>
          </a:solidFill>
          <a:ln xmlns:a="http://schemas.openxmlformats.org/drawingml/2006/main" w="0">
            <a:solidFill>
              <a:srgbClr val="D8D1C8"/>
            </a:solidFill>
            <a:prstDash val="solid"/>
          </a:ln>
        </p:spPr>
      </p:sp>
      <p:sp>
        <p:nvSpPr>
          <p:cNvPr id="20" name="table-cell-0">
            <a:extLst xmlns:a="http://schemas.openxmlformats.org/drawingml/2006/main">
              <a:ext uri="{FF2B5EF4-FFF2-40B4-BE49-F238E27FC236}">
                <a16:creationId xmlns:a16="http://schemas.microsoft.com/office/drawing/2014/main" id="{B4A19E35-5117-444C-AF17-EF8C67A1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91000"/>
            <a:ext cx="3467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Michalewicz</a:t>
            </a:r>
          </a:p>
        </p:txBody>
      </p:sp>
      <p:sp>
        <p:nvSpPr>
          <p:cNvPr id="21" name="table-cell-1">
            <a:extLst xmlns:a="http://schemas.openxmlformats.org/drawingml/2006/main">
              <a:ext uri="{FF2B5EF4-FFF2-40B4-BE49-F238E27FC236}">
                <a16:creationId xmlns:a16="http://schemas.microsoft.com/office/drawing/2014/main" id="{0AEC4CEA-7851-407A-9932-20267AD5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191000"/>
            <a:ext cx="3829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exploratory: -8.598</a:t>
            </a:r>
          </a:p>
        </p:txBody>
      </p:sp>
      <p:sp>
        <p:nvSpPr>
          <p:cNvPr id="22" name="table-cell-2">
            <a:extLst xmlns:a="http://schemas.openxmlformats.org/drawingml/2006/main">
              <a:ext uri="{FF2B5EF4-FFF2-40B4-BE49-F238E27FC236}">
                <a16:creationId xmlns:a16="http://schemas.microsoft.com/office/drawing/2014/main" id="{BFAAEBDF-BD1F-4609-9122-27766FCC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91000"/>
            <a:ext cx="3638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-4.803</a:t>
            </a:r>
          </a:p>
        </p:txBody>
      </p:sp>
      <p:sp>
        <p:nvSpPr>
          <p:cNvPr id="23" name="table-cell-3">
            <a:extLst xmlns:a="http://schemas.openxmlformats.org/drawingml/2006/main">
              <a:ext uri="{FF2B5EF4-FFF2-40B4-BE49-F238E27FC236}">
                <a16:creationId xmlns:a16="http://schemas.microsoft.com/office/drawing/2014/main" id="{437C6777-C23A-417C-B18C-CA4E2BC1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191000"/>
            <a:ext cx="510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close, but not guaranteed</a:t>
            </a:r>
          </a:p>
        </p:txBody>
      </p:sp>
      <p:sp>
        <p:nvSpPr>
          <p:cNvPr id="24" name="row-rule-2">
            <a:extLst xmlns:a="http://schemas.openxmlformats.org/drawingml/2006/main">
              <a:ext uri="{FF2B5EF4-FFF2-40B4-BE49-F238E27FC236}">
                <a16:creationId xmlns:a16="http://schemas.microsoft.com/office/drawing/2014/main" id="{0E807688-FDE9-49B9-A911-395B2BC1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1664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8"/>
          </a:solidFill>
          <a:ln xmlns:a="http://schemas.openxmlformats.org/drawingml/2006/main" w="0">
            <a:solidFill>
              <a:srgbClr val="D8D1C8"/>
            </a:solidFill>
            <a:prstDash val="solid"/>
          </a:ln>
        </p:spPr>
      </p:sp>
      <p:sp>
        <p:nvSpPr>
          <p:cNvPr id="25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FB09747E-633D-40A0-BA08-6B106CD2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53200"/>
            <a:ext cx="52387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46A73"/>
                </a:solidFill>
              </a:defRPr>
            </a:pPr>
            <a:r>
              <a:rPr sz="4200" b="1">
                <a:solidFill>
                  <a:srgbClr val="246A73"/>
                </a:solidFill>
              </a:rPr>
              <a:t>3.01e-7</a:t>
            </a:r>
          </a:p>
        </p:txBody>
      </p:sp>
      <p:sp>
        <p:nvSpPr>
          <p:cNvPr id="26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01D1D98A-1A24-46BD-B4F9-CE665B8C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77100"/>
            <a:ext cx="523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Sphere avg</a:t>
            </a:r>
          </a:p>
        </p:txBody>
      </p:sp>
      <p:sp>
        <p:nvSpPr>
          <p:cNvPr id="27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E57471F5-6507-403A-A013-EA659AE2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6553200"/>
            <a:ext cx="52387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B5532F"/>
                </a:solidFill>
              </a:defRPr>
            </a:pPr>
            <a:r>
              <a:rPr sz="4200" b="1">
                <a:solidFill>
                  <a:srgbClr val="B5532F"/>
                </a:solidFill>
              </a:rPr>
              <a:t>13.53</a:t>
            </a:r>
          </a:p>
        </p:txBody>
      </p:sp>
      <p:sp>
        <p:nvSpPr>
          <p:cNvPr id="28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BCDA0A94-D77B-400A-A6A4-E3FE2228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7277100"/>
            <a:ext cx="523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Rastrigin avg</a:t>
            </a:r>
          </a:p>
        </p:txBody>
      </p:sp>
      <p:sp>
        <p:nvSpPr>
          <p:cNvPr id="2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36F0BC7C-1CE1-4702-A86A-490EF722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6553200"/>
            <a:ext cx="52387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6B5CA5"/>
                </a:solidFill>
              </a:defRPr>
            </a:pPr>
            <a:r>
              <a:rPr sz="4200" b="1">
                <a:solidFill>
                  <a:srgbClr val="6B5CA5"/>
                </a:solidFill>
              </a:rPr>
              <a:t>-9.379</a:t>
            </a:r>
          </a:p>
        </p:txBody>
      </p:sp>
      <p:sp>
        <p:nvSpPr>
          <p:cNvPr id="3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02B8725C-10EE-4BED-85B3-A8209DA0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7277100"/>
            <a:ext cx="523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Michalewicz best run</a:t>
            </a:r>
          </a:p>
        </p:txBody>
      </p:sp>
      <p:sp>
        <p:nvSpPr>
          <p:cNvPr id="31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6805BF7E-1678-4837-B2EE-3300870A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0595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Experiments in Cuckoo_Search_via_Levy_Flights_Final.ipynb; lower objective value is better.</a:t>
            </a:r>
          </a:p>
        </p:txBody>
      </p:sp>
    </p:spTree>
    <p:extLst>
      <p:ext uri="{BB962C8B-B14F-4D97-AF65-F5344CB8AC3E}">
        <p14:creationId xmlns:p14="http://schemas.microsoft.com/office/powerpoint/2010/main" val="133418307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4AD1D375-863D-47C6-A0D1-38BB478A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C411ABB9-D1DE-4C1A-8EB6-40B75AD3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6A73"/>
                </a:solidFill>
              </a:defRPr>
            </a:pPr>
            <a:r>
              <a:rPr sz="1275" b="1">
                <a:solidFill>
                  <a:srgbClr val="246A73"/>
                </a:solidFill>
              </a:rPr>
              <a:t>CONVERGENCE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718F41-9BCF-4D0A-889B-47B8EA39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3450"/>
            <a:ext cx="166497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F2933"/>
                </a:solidFill>
              </a:defRPr>
            </a:pPr>
            <a:r>
              <a:rPr sz="4650" b="1">
                <a:solidFill>
                  <a:srgbClr val="1F2933"/>
                </a:solidFill>
              </a:rPr>
              <a:t>The useful pattern is fast early improvement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8B4928A-CECD-467E-AAB5-A9329C12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99250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F6368"/>
                </a:solidFill>
              </a:defRPr>
            </a:pPr>
            <a:r>
              <a:rPr sz="2025">
                <a:solidFill>
                  <a:srgbClr val="5F6368"/>
                </a:solidFill>
              </a:rPr>
              <a:t>Average curves over 10 runs show where CS is stable and where it remains sensitive to settings.</a:t>
            </a:r>
          </a:p>
        </p:txBody>
      </p:sp>
      <p:pic>
        <p:nvPicPr>
          <p:cNvPr id="5" name="michalewicz-plo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970de8c4243fe"/>
          <a:stretch xmlns:a="http://schemas.openxmlformats.org/drawingml/2006/main"/>
        </p:blipFill>
        <p:spPr>
          <a:xfrm xmlns:a="http://schemas.openxmlformats.org/drawingml/2006/main">
            <a:off x="819150" y="2768954"/>
            <a:ext cx="10457656" cy="6349291"/>
          </a:xfrm>
          <a:prstGeom xmlns:a="http://schemas.openxmlformats.org/drawingml/2006/main" prst="rect">
            <a:avLst/>
          </a:prstGeom>
        </p:spPr>
      </p:pic>
      <p:sp>
        <p:nvSpPr>
          <p:cNvPr id="6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F3282A95-1136-4DAD-B2C7-CE3158CD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3600450"/>
            <a:ext cx="5734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46A73"/>
                </a:solidFill>
              </a:defRPr>
            </a:pPr>
            <a:r>
              <a:rPr sz="4200" b="1">
                <a:solidFill>
                  <a:srgbClr val="246A73"/>
                </a:solidFill>
              </a:rPr>
              <a:t>steep drop</a:t>
            </a:r>
          </a:p>
        </p:txBody>
      </p:sp>
      <p:sp>
        <p:nvSpPr>
          <p:cNvPr id="7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2C641AAD-4EE9-44DF-8CAC-E49F7A9B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4324350"/>
            <a:ext cx="5734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early phase</a:t>
            </a:r>
          </a:p>
        </p:txBody>
      </p:sp>
      <p:sp>
        <p:nvSpPr>
          <p:cNvPr id="8" name="read-1">
            <a:extLst xmlns:a="http://schemas.openxmlformats.org/drawingml/2006/main">
              <a:ext uri="{FF2B5EF4-FFF2-40B4-BE49-F238E27FC236}">
                <a16:creationId xmlns:a16="http://schemas.microsoft.com/office/drawing/2014/main" id="{7C93BC4A-4F25-4195-A5FB-E0A730CA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4819650"/>
            <a:ext cx="5734050" cy="1009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Most improvement happens before the final iterations, which is typical for population metaheuristics.</a:t>
            </a:r>
          </a:p>
        </p:txBody>
      </p:sp>
      <p:sp>
        <p:nvSpPr>
          <p:cNvPr id="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63012DC0-D804-4E50-BD51-FF5540D5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6076950"/>
            <a:ext cx="5734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B5532F"/>
                </a:solidFill>
              </a:defRPr>
            </a:pPr>
            <a:r>
              <a:rPr sz="4200" b="1">
                <a:solidFill>
                  <a:srgbClr val="B5532F"/>
                </a:solidFill>
              </a:rPr>
              <a:t>visible</a:t>
            </a:r>
          </a:p>
        </p:txBody>
      </p:sp>
      <p:sp>
        <p:nvSpPr>
          <p:cNvPr id="1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124738D4-A050-4673-9EDB-A78CCB9C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6781800"/>
            <a:ext cx="5734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parameter effect</a:t>
            </a:r>
          </a:p>
        </p:txBody>
      </p:sp>
      <p:sp>
        <p:nvSpPr>
          <p:cNvPr id="11" name="read-2">
            <a:extLst xmlns:a="http://schemas.openxmlformats.org/drawingml/2006/main">
              <a:ext uri="{FF2B5EF4-FFF2-40B4-BE49-F238E27FC236}">
                <a16:creationId xmlns:a16="http://schemas.microsoft.com/office/drawing/2014/main" id="{D91FA166-508D-45BB-B286-5B7335D3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7277100"/>
            <a:ext cx="5734050" cy="1009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The exploratory setting reaches better Michalewicz values here, but it also has higher run-to-run variance.</a:t>
            </a:r>
          </a:p>
        </p:txBody>
      </p:sp>
      <p:sp>
        <p:nvSpPr>
          <p:cNvPr id="1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BE5C2849-4C32-4606-88D4-86852530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0595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Representative plot from the same 10-run experiment; Sphere and Rastrigin plots are saved in the output folder.</a:t>
            </a:r>
          </a:p>
        </p:txBody>
      </p:sp>
    </p:spTree>
    <p:extLst>
      <p:ext uri="{BB962C8B-B14F-4D97-AF65-F5344CB8AC3E}">
        <p14:creationId xmlns:p14="http://schemas.microsoft.com/office/powerpoint/2010/main" val="91141769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41DD923D-3459-4312-8ED1-B2E608B2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A85B507-5096-4351-A5B3-985A1E61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46A73"/>
                </a:solidFill>
              </a:defRPr>
            </a:pPr>
            <a:r>
              <a:rPr sz="1275" b="1">
                <a:solidFill>
                  <a:srgbClr val="246A73"/>
                </a:solidFill>
              </a:rPr>
              <a:t>DISCUSSION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FEAD30-4356-423E-85DB-5E2C4C47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3450"/>
            <a:ext cx="166497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F2933"/>
                </a:solidFill>
              </a:defRPr>
            </a:pPr>
            <a:r>
              <a:rPr sz="4650" b="1">
                <a:solidFill>
                  <a:srgbClr val="1F2933"/>
                </a:solidFill>
              </a:rPr>
              <a:t>The algorithm is simple, but not magic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76C025F-5883-4A94-8640-5776FD8B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10439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F6368"/>
                </a:solidFill>
              </a:defRPr>
            </a:pPr>
            <a:r>
              <a:rPr sz="2025">
                <a:solidFill>
                  <a:srgbClr val="5F6368"/>
                </a:solidFill>
              </a:rPr>
              <a:t>The important scientific point is the exploration-exploitation trade-off, not just the nature metaphor.</a:t>
            </a:r>
          </a:p>
        </p:txBody>
      </p:sp>
      <p:sp>
        <p:nvSpPr>
          <p:cNvPr id="5" name="adv-title">
            <a:extLst xmlns:a="http://schemas.openxmlformats.org/drawingml/2006/main">
              <a:ext uri="{FF2B5EF4-FFF2-40B4-BE49-F238E27FC236}">
                <a16:creationId xmlns:a16="http://schemas.microsoft.com/office/drawing/2014/main" id="{70C271B6-4124-4195-BB2E-9DDD6E38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5276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46A73"/>
                </a:solidFill>
              </a:defRPr>
            </a:pPr>
            <a:r>
              <a:rPr sz="3300" b="1">
                <a:solidFill>
                  <a:srgbClr val="246A73"/>
                </a:solidFill>
              </a:rPr>
              <a:t>Advantages</a:t>
            </a:r>
          </a:p>
        </p:txBody>
      </p:sp>
      <p:sp>
        <p:nvSpPr>
          <p:cNvPr id="6" name="bullet-mark">
            <a:extLst xmlns:a="http://schemas.openxmlformats.org/drawingml/2006/main">
              <a:ext uri="{FF2B5EF4-FFF2-40B4-BE49-F238E27FC236}">
                <a16:creationId xmlns:a16="http://schemas.microsoft.com/office/drawing/2014/main" id="{06FEB83F-D6B0-482E-8AF4-FC511E92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A73"/>
          </a:solidFill>
        </p:spPr>
      </p:sp>
      <p:sp>
        <p:nvSpPr>
          <p:cNvPr id="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C06E2A1C-95A6-4E4C-ADAE-E0AB3911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few parameters</a:t>
            </a:r>
          </a:p>
        </p:txBody>
      </p:sp>
      <p:sp>
        <p:nvSpPr>
          <p:cNvPr id="8" name="bullet-mark">
            <a:extLst xmlns:a="http://schemas.openxmlformats.org/drawingml/2006/main">
              <a:ext uri="{FF2B5EF4-FFF2-40B4-BE49-F238E27FC236}">
                <a16:creationId xmlns:a16="http://schemas.microsoft.com/office/drawing/2014/main" id="{41330E69-982E-4747-AB5E-D2321631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A73"/>
          </a:solidFill>
        </p:spPr>
      </p:sp>
      <p:sp>
        <p:nvSpPr>
          <p:cNvPr id="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68CC679C-5D39-4755-8D1E-95FB7EAC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2905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strong global jumps</a:t>
            </a:r>
          </a:p>
        </p:txBody>
      </p:sp>
      <p:sp>
        <p:nvSpPr>
          <p:cNvPr id="10" name="bullet-mark">
            <a:extLst xmlns:a="http://schemas.openxmlformats.org/drawingml/2006/main">
              <a:ext uri="{FF2B5EF4-FFF2-40B4-BE49-F238E27FC236}">
                <a16:creationId xmlns:a16="http://schemas.microsoft.com/office/drawing/2014/main" id="{1A0856AB-4E02-446B-8F76-AE04CB40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A73"/>
          </a:solidFill>
        </p:spPr>
      </p:sp>
      <p:sp>
        <p:nvSpPr>
          <p:cNvPr id="1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67DD141E-85AE-477A-A6B1-95105F71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easy continuous encoding</a:t>
            </a:r>
          </a:p>
        </p:txBody>
      </p:sp>
      <p:sp>
        <p:nvSpPr>
          <p:cNvPr id="12" name="lim-title">
            <a:extLst xmlns:a="http://schemas.openxmlformats.org/drawingml/2006/main">
              <a:ext uri="{FF2B5EF4-FFF2-40B4-BE49-F238E27FC236}">
                <a16:creationId xmlns:a16="http://schemas.microsoft.com/office/drawing/2014/main" id="{CF090161-3AB4-4DC5-A805-83C158B6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5276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B5532F"/>
                </a:solidFill>
              </a:defRPr>
            </a:pPr>
            <a:r>
              <a:rPr sz="3300" b="1">
                <a:solidFill>
                  <a:srgbClr val="B5532F"/>
                </a:solidFill>
              </a:rPr>
              <a:t>Limits</a:t>
            </a:r>
          </a:p>
        </p:txBody>
      </p:sp>
      <p:sp>
        <p:nvSpPr>
          <p:cNvPr id="13" name="bullet-mark">
            <a:extLst xmlns:a="http://schemas.openxmlformats.org/drawingml/2006/main">
              <a:ext uri="{FF2B5EF4-FFF2-40B4-BE49-F238E27FC236}">
                <a16:creationId xmlns:a16="http://schemas.microsoft.com/office/drawing/2014/main" id="{E4CE1289-1B22-4638-8672-B1BB61D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29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532F"/>
          </a:solidFill>
        </p:spPr>
      </p:sp>
      <p:sp>
        <p:nvSpPr>
          <p:cNvPr id="14" name="bullet-text">
            <a:extLst xmlns:a="http://schemas.openxmlformats.org/drawingml/2006/main">
              <a:ext uri="{FF2B5EF4-FFF2-40B4-BE49-F238E27FC236}">
                <a16:creationId xmlns:a16="http://schemas.microsoft.com/office/drawing/2014/main" id="{697BD1F8-50E3-447E-84FA-491E746C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3375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sensitive to alpha and pa</a:t>
            </a:r>
          </a:p>
        </p:txBody>
      </p:sp>
      <p:sp>
        <p:nvSpPr>
          <p:cNvPr id="15" name="bullet-mark">
            <a:extLst xmlns:a="http://schemas.openxmlformats.org/drawingml/2006/main">
              <a:ext uri="{FF2B5EF4-FFF2-40B4-BE49-F238E27FC236}">
                <a16:creationId xmlns:a16="http://schemas.microsoft.com/office/drawing/2014/main" id="{1058CE1C-FAEB-4325-A2C7-62092DBB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24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532F"/>
          </a:solidFill>
        </p:spPr>
      </p:sp>
      <p:sp>
        <p:nvSpPr>
          <p:cNvPr id="16" name="bullet-text">
            <a:extLst xmlns:a="http://schemas.openxmlformats.org/drawingml/2006/main">
              <a:ext uri="{FF2B5EF4-FFF2-40B4-BE49-F238E27FC236}">
                <a16:creationId xmlns:a16="http://schemas.microsoft.com/office/drawing/2014/main" id="{147CB957-A17E-4C08-A7D4-72DE60E1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2905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no guarantee of global optimum</a:t>
            </a:r>
          </a:p>
        </p:txBody>
      </p:sp>
      <p:sp>
        <p:nvSpPr>
          <p:cNvPr id="17" name="bullet-mark">
            <a:extLst xmlns:a="http://schemas.openxmlformats.org/drawingml/2006/main">
              <a:ext uri="{FF2B5EF4-FFF2-40B4-BE49-F238E27FC236}">
                <a16:creationId xmlns:a16="http://schemas.microsoft.com/office/drawing/2014/main" id="{AE792AF2-8AB4-4F54-885F-7CE1B06D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38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532F"/>
          </a:solidFill>
        </p:spPr>
      </p:sp>
      <p:sp>
        <p:nvSpPr>
          <p:cNvPr id="18" name="bullet-text">
            <a:extLst xmlns:a="http://schemas.openxmlformats.org/drawingml/2006/main">
              <a:ext uri="{FF2B5EF4-FFF2-40B4-BE49-F238E27FC236}">
                <a16:creationId xmlns:a16="http://schemas.microsoft.com/office/drawing/2014/main" id="{2DCE11CB-AB97-4819-81ED-8A0E990B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4340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discrete problems need redesign</a:t>
            </a:r>
          </a:p>
        </p:txBody>
      </p:sp>
      <p:sp>
        <p:nvSpPr>
          <p:cNvPr id="19" name="ext-title">
            <a:extLst xmlns:a="http://schemas.openxmlformats.org/drawingml/2006/main">
              <a:ext uri="{FF2B5EF4-FFF2-40B4-BE49-F238E27FC236}">
                <a16:creationId xmlns:a16="http://schemas.microsoft.com/office/drawing/2014/main" id="{570A3C07-E40D-438D-9109-ADFF5903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667000"/>
            <a:ext cx="5276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6B5CA5"/>
                </a:solidFill>
              </a:defRPr>
            </a:pPr>
            <a:r>
              <a:rPr sz="3300" b="1">
                <a:solidFill>
                  <a:srgbClr val="6B5CA5"/>
                </a:solidFill>
              </a:rPr>
              <a:t>Extensions</a:t>
            </a:r>
          </a:p>
        </p:txBody>
      </p:sp>
      <p:sp>
        <p:nvSpPr>
          <p:cNvPr id="20" name="bullet-mark">
            <a:extLst xmlns:a="http://schemas.openxmlformats.org/drawingml/2006/main">
              <a:ext uri="{FF2B5EF4-FFF2-40B4-BE49-F238E27FC236}">
                <a16:creationId xmlns:a16="http://schemas.microsoft.com/office/drawing/2014/main" id="{0D84D107-2592-482C-9C86-100539EE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4290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5CA5"/>
          </a:solidFill>
        </p:spPr>
      </p:sp>
      <p:sp>
        <p:nvSpPr>
          <p:cNvPr id="2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26D87510-F47C-4EDF-83CD-AC448CFB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333375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adaptive step size</a:t>
            </a:r>
          </a:p>
        </p:txBody>
      </p:sp>
      <p:sp>
        <p:nvSpPr>
          <p:cNvPr id="22" name="bullet-mark">
            <a:extLst xmlns:a="http://schemas.openxmlformats.org/drawingml/2006/main">
              <a:ext uri="{FF2B5EF4-FFF2-40B4-BE49-F238E27FC236}">
                <a16:creationId xmlns:a16="http://schemas.microsoft.com/office/drawing/2014/main" id="{F09667C0-6541-419A-BAA7-DD1ADFFA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924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5CA5"/>
          </a:solidFill>
        </p:spPr>
      </p:sp>
      <p:sp>
        <p:nvSpPr>
          <p:cNvPr id="23" name="bullet-text">
            <a:extLst xmlns:a="http://schemas.openxmlformats.org/drawingml/2006/main">
              <a:ext uri="{FF2B5EF4-FFF2-40B4-BE49-F238E27FC236}">
                <a16:creationId xmlns:a16="http://schemas.microsoft.com/office/drawing/2014/main" id="{685D3B8E-DDE5-441D-A2C2-9FE22D18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382905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hybrid local search</a:t>
            </a:r>
          </a:p>
        </p:txBody>
      </p:sp>
      <p:sp>
        <p:nvSpPr>
          <p:cNvPr id="24" name="bullet-mark">
            <a:extLst xmlns:a="http://schemas.openxmlformats.org/drawingml/2006/main">
              <a:ext uri="{FF2B5EF4-FFF2-40B4-BE49-F238E27FC236}">
                <a16:creationId xmlns:a16="http://schemas.microsoft.com/office/drawing/2014/main" id="{F7DCC038-4351-4D53-9792-0D5325BB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4438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B5CA5"/>
          </a:solidFill>
        </p:spPr>
      </p:sp>
      <p:sp>
        <p:nvSpPr>
          <p:cNvPr id="25" name="bullet-text">
            <a:extLst xmlns:a="http://schemas.openxmlformats.org/drawingml/2006/main">
              <a:ext uri="{FF2B5EF4-FFF2-40B4-BE49-F238E27FC236}">
                <a16:creationId xmlns:a16="http://schemas.microsoft.com/office/drawing/2014/main" id="{692FE5DE-F497-4449-AAAB-9E8F3A15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434340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1F2933"/>
                </a:solidFill>
              </a:defRPr>
            </a:pPr>
            <a:r>
              <a:rPr sz="2175">
                <a:solidFill>
                  <a:srgbClr val="1F2933"/>
                </a:solidFill>
              </a:rPr>
              <a:t>multi-objective CS</a:t>
            </a:r>
          </a:p>
        </p:txBody>
      </p:sp>
      <p:sp>
        <p:nvSpPr>
          <p:cNvPr id="26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43F5F7A9-F1C0-4B4C-A844-3C84394E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0595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Yang &amp; Deb, Cuckoo Search via Levy Flights, NaBIC 2009</a:t>
            </a:r>
          </a:p>
        </p:txBody>
      </p:sp>
    </p:spTree>
    <p:extLst>
      <p:ext uri="{BB962C8B-B14F-4D97-AF65-F5344CB8AC3E}">
        <p14:creationId xmlns:p14="http://schemas.microsoft.com/office/powerpoint/2010/main" val="4935978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16AA8667-BF7F-4A51-A372-A743F9CA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</p:spPr>
      </p:sp>
      <p:sp>
        <p:nvSpPr>
          <p:cNvPr id="2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11BE24F5-7E46-4D79-954C-E79FF27A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9A3A"/>
          </a:solidFill>
          <a:ln xmlns:a="http://schemas.openxmlformats.org/drawingml/2006/main" w="0">
            <a:solidFill>
              <a:srgbClr val="D19A3A"/>
            </a:solidFill>
            <a:prstDash val="solid"/>
          </a:ln>
        </p:spPr>
      </p:sp>
      <p:sp>
        <p:nvSpPr>
          <p:cNvPr id="3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0E8BC857-A379-49C0-9B1C-81AF722E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76550"/>
            <a:ext cx="16649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46A73"/>
                </a:solidFill>
              </a:defRPr>
            </a:pPr>
            <a:r>
              <a:rPr sz="1800" b="1">
                <a:solidFill>
                  <a:srgbClr val="246A73"/>
                </a:solidFill>
              </a:rPr>
              <a:t>Main takeaway</a:t>
            </a:r>
          </a:p>
        </p:txBody>
      </p:sp>
      <p:sp>
        <p:nvSpPr>
          <p:cNvPr id="4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A476C176-5CF2-43BD-96CC-FEF382A6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11868150" cy="2343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1F2933"/>
                </a:solidFill>
              </a:defRPr>
            </a:pPr>
            <a:r>
              <a:rPr sz="5100" b="1">
                <a:solidFill>
                  <a:srgbClr val="1F2933"/>
                </a:solidFill>
              </a:rPr>
              <a:t>Cuckoo Search is a compact global optimizer that gets its strength from elitism plus heavy-tailed exploration.</a:t>
            </a:r>
          </a:p>
        </p:txBody>
      </p:sp>
      <p:sp>
        <p:nvSpPr>
          <p:cNvPr id="5" name="closing-subtitle">
            <a:extLst xmlns:a="http://schemas.openxmlformats.org/drawingml/2006/main">
              <a:ext uri="{FF2B5EF4-FFF2-40B4-BE49-F238E27FC236}">
                <a16:creationId xmlns:a16="http://schemas.microsoft.com/office/drawing/2014/main" id="{4E004551-A860-4FB0-A719-60CAA98F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08204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5F6368"/>
                </a:solidFill>
              </a:defRPr>
            </a:pPr>
            <a:r>
              <a:rPr sz="2250">
                <a:solidFill>
                  <a:srgbClr val="5F6368"/>
                </a:solidFill>
              </a:rPr>
              <a:t>Best use in this demo: continuous multimodal search where occasional long jumps are useful, but parameter tuning still matters.</a:t>
            </a:r>
          </a:p>
        </p:txBody>
      </p:sp>
      <p:sp>
        <p:nvSpPr>
          <p:cNvPr id="6" name="questions">
            <a:extLst xmlns:a="http://schemas.openxmlformats.org/drawingml/2006/main">
              <a:ext uri="{FF2B5EF4-FFF2-40B4-BE49-F238E27FC236}">
                <a16:creationId xmlns:a16="http://schemas.microsoft.com/office/drawing/2014/main" id="{A5E59372-0216-458D-9F80-219A9230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00900"/>
            <a:ext cx="166497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B5532F"/>
                </a:solidFill>
              </a:defRPr>
            </a:pPr>
            <a:r>
              <a:rPr sz="4050" b="1">
                <a:solidFill>
                  <a:srgbClr val="B5532F"/>
                </a:solidFill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7150528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2026-05-02T13:48:14.2310000Z</dcterms:created>
  <dcterms:modified xsi:type="dcterms:W3CDTF">2026-05-02T13:48:14.2310000Z</dcterms:modified>
</coreProperties>
</file>